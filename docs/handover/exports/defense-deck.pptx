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notesStyle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2743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400" b="0">
                <a:solidFill>
                  <a:srgbClr val="20313F"/>
                </a:solidFill>
                <a:latin typeface="Noto Sans"/>
                <a:ea typeface="Noto Sans"/>
                <a:cs typeface="Noto Sans"/>
              </a:rPr>
              <a:t>Mở đầu: một mã nguồn phục vụ ba môn; deck của candidate, evidence thật theo SP14.</a:t>
            </a:r>
            <a:endParaRPr lang="vi-V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2743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400" b="0">
                <a:solidFill>
                  <a:srgbClr val="20313F"/>
                </a:solidFill>
                <a:latin typeface="Noto Sans"/>
                <a:ea typeface="Noto Sans"/>
                <a:cs typeface="Noto Sans"/>
              </a:rPr>
              <a:t>Nêu vấn đề cụ thể của người học: đã học đủ nhưng còn cần đạt Final.</a:t>
            </a:r>
            <a:endParaRPr lang="vi-V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2743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400" b="0">
                <a:solidFill>
                  <a:srgbClr val="20313F"/>
                </a:solidFill>
                <a:latin typeface="Noto Sans"/>
                <a:ea typeface="Noto Sans"/>
                <a:cs typeface="Noto Sans"/>
              </a:rPr>
              <a:t>Student 1/2 là hai hành trình, không phải role khác; Guest không có row trong DB.</a:t>
            </a:r>
            <a:endParaRPr lang="vi-V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2743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400" b="0">
                <a:solidFill>
                  <a:srgbClr val="20313F"/>
                </a:solidFill>
                <a:latin typeface="Noto Sans"/>
                <a:ea typeface="Noto Sans"/>
                <a:cs typeface="Noto Sans"/>
              </a:rPr>
              <a:t>Phân biệt UI candidate với Question Bank/Practice/Teacher Assessment authoring đích.</a:t>
            </a:r>
            <a:endParaRPr lang="vi-V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2743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400" b="0">
                <a:solidFill>
                  <a:srgbClr val="20313F"/>
                </a:solidFill>
                <a:latin typeface="Noto Sans"/>
                <a:ea typeface="Noto Sans"/>
                <a:cs typeface="Noto Sans"/>
              </a:rPr>
              <a:t>Demo bằng hai Student; return URL không tự cấp quyền.</a:t>
            </a:r>
            <a:endParaRPr lang="vi-V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2743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400" b="0">
                <a:solidFill>
                  <a:srgbClr val="20313F"/>
                </a:solidFill>
                <a:latin typeface="Noto Sans"/>
                <a:ea typeface="Noto Sans"/>
                <a:cs typeface="Noto Sans"/>
              </a:rPr>
              <a:t>Dùng cùng một hành vi để giải thích ba góc nhìn, không tạo ba sản phẩm riêng.</a:t>
            </a:r>
            <a:endParaRPr lang="vi-V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2743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400" b="0">
                <a:solidFill>
                  <a:srgbClr val="20313F"/>
                </a:solidFill>
                <a:latin typeface="Noto Sans"/>
                <a:ea typeface="Noto Sans"/>
                <a:cs typeface="Noto Sans"/>
              </a:rPr>
              <a:t>Trace Controller → contract → implementation → SQL; không chấm điểm trong view.</a:t>
            </a:r>
            <a:endParaRPr lang="vi-V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2743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400" b="0">
                <a:solidFill>
                  <a:srgbClr val="20313F"/>
                </a:solidFill>
                <a:latin typeface="Noto Sans"/>
                <a:ea typeface="Noto Sans"/>
                <a:cs typeface="Noto Sans"/>
              </a:rPr>
              <a:t>Giải thích thứ tự AuthN trước AuthZ; DbContext scoped theo request.</a:t>
            </a:r>
            <a:endParaRPr lang="vi-V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2743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400" b="0">
                <a:solidFill>
                  <a:srgbClr val="20313F"/>
                </a:solidFill>
                <a:latin typeface="Noto Sans"/>
                <a:ea typeface="Noto Sans"/>
                <a:cs typeface="Noto Sans"/>
              </a:rPr>
              <a:t>Tập bài hiệu lực rỗng không được xem là 100%; học không tuần tự.</a:t>
            </a:r>
            <a:endParaRPr lang="vi-V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2743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400" b="0">
                <a:solidFill>
                  <a:srgbClr val="20313F"/>
                </a:solidFill>
                <a:latin typeface="Noto Sans"/>
                <a:ea typeface="Noto Sans"/>
                <a:cs typeface="Noto Sans"/>
              </a:rPr>
              <a:t>Correct options nằm server; Student DTO không có IsCorrect.</a:t>
            </a:r>
            <a:endParaRPr lang="vi-V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2743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400" b="0">
                <a:solidFill>
                  <a:srgbClr val="20313F"/>
                </a:solidFill>
                <a:latin typeface="Noto Sans"/>
                <a:ea typeface="Noto Sans"/>
                <a:cs typeface="Noto Sans"/>
              </a:rPr>
              <a:t>Không coi ẩn nút là authorization; stale cookie test kiểm tra request kế tiếp.</a:t>
            </a:r>
            <a:endParaRPr lang="vi-V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2743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400" b="0">
                <a:solidFill>
                  <a:srgbClr val="20313F"/>
                </a:solidFill>
                <a:latin typeface="Noto Sans"/>
                <a:ea typeface="Noto Sans"/>
                <a:cs typeface="Noto Sans"/>
              </a:rPr>
              <a:t>Webhook là ngoại lệ CSRF có HMAC raw body; không hiển thị secret trên slide/log.</a:t>
            </a:r>
            <a:endParaRPr lang="vi-V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2743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400" b="0">
                <a:solidFill>
                  <a:srgbClr val="20313F"/>
                </a:solidFill>
                <a:latin typeface="Noto Sans"/>
                <a:ea typeface="Noto Sans"/>
                <a:cs typeface="Noto Sans"/>
              </a:rPr>
              <a:t>Hosted là hợp đồng riêng; local Development không thu tiền thật.</a:t>
            </a:r>
            <a:endParaRPr lang="vi-V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2743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400" b="0">
                <a:solidFill>
                  <a:srgbClr val="20313F"/>
                </a:solidFill>
                <a:latin typeface="Noto Sans"/>
                <a:ea typeface="Noto Sans"/>
                <a:cs typeface="Noto Sans"/>
              </a:rPr>
              <a:t>Course → Assessment → Attempt; không nhận kiểm thử một host là multi-host.</a:t>
            </a:r>
            <a:endParaRPr lang="vi-V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2743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400" b="0">
                <a:solidFill>
                  <a:srgbClr val="20313F"/>
                </a:solidFill>
                <a:latin typeface="Noto Sans"/>
                <a:ea typeface="Noto Sans"/>
                <a:cs typeface="Noto Sans"/>
              </a:rPr>
              <a:t>Thêm bài mới giảm progress hiện tại nhưng không xóa mốc lịch sử.</a:t>
            </a:r>
            <a:endParaRPr lang="vi-V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2743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400" b="0">
                <a:solidFill>
                  <a:srgbClr val="20313F"/>
                </a:solidFill>
                <a:latin typeface="Noto Sans"/>
                <a:ea typeface="Noto Sans"/>
                <a:cs typeface="Noto Sans"/>
              </a:rPr>
              <a:t>Ví dụ raw 69,996% hiển thị 70,00% vẫn fail threshold 70%.</a:t>
            </a:r>
            <a:endParaRPr lang="vi-V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2743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400" b="0">
                <a:solidFill>
                  <a:srgbClr val="20313F"/>
                </a:solidFill>
                <a:latin typeface="Noto Sans"/>
                <a:ea typeface="Noto Sans"/>
                <a:cs typeface="Noto Sans"/>
              </a:rPr>
              <a:t>Đồng hồ client chỉ hiển thị; nói rõ đáp án chưa lưu có thể không được tính.</a:t>
            </a:r>
            <a:endParaRPr lang="vi-V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2743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400" b="0">
                <a:solidFill>
                  <a:srgbClr val="20313F"/>
                </a:solidFill>
                <a:latin typeface="Noto Sans"/>
                <a:ea typeface="Noto Sans"/>
                <a:cs typeface="Noto Sans"/>
              </a:rPr>
              <a:t>Khánh trình bày Learning/Teacher; dùng teacher2 đối chứng.</a:t>
            </a:r>
            <a:endParaRPr lang="vi-V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2743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400" b="0">
                <a:solidFill>
                  <a:srgbClr val="20313F"/>
                </a:solidFill>
                <a:latin typeface="Noto Sans"/>
                <a:ea typeface="Noto Sans"/>
                <a:cs typeface="Noto Sans"/>
              </a:rPr>
              <a:t>Khang/Dương bấm; giữ mã đơn để Admin tra cứu sau.</a:t>
            </a:r>
            <a:endParaRPr lang="vi-V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2743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400" b="0">
                <a:solidFill>
                  <a:srgbClr val="20313F"/>
                </a:solidFill>
                <a:latin typeface="Noto Sans"/>
                <a:ea typeface="Noto Sans"/>
                <a:cs typeface="Noto Sans"/>
              </a:rPr>
              <a:t>Hoàng giải thích scoring/skills; không dùng đáp án học viên để lộ correct metadata.</a:t>
            </a:r>
            <a:endParaRPr lang="vi-V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2743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400" b="0">
                <a:solidFill>
                  <a:srgbClr val="20313F"/>
                </a:solidFill>
                <a:latin typeface="Noto Sans"/>
                <a:ea typeface="Noto Sans"/>
                <a:cs typeface="Noto Sans"/>
              </a:rPr>
              <a:t>Admin routes /Admin/Transactions và /Admin/Users, 20 hàng/trang.</a:t>
            </a:r>
            <a:endParaRPr lang="vi-V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2743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400" b="0">
                <a:solidFill>
                  <a:srgbClr val="20313F"/>
                </a:solidFill>
                <a:latin typeface="Noto Sans"/>
                <a:ea typeface="Noto Sans"/>
                <a:cs typeface="Noto Sans"/>
              </a:rPr>
              <a:t>Không lặp số 331 của kế hoạch; report count, SHA và log thật từ SP14.</a:t>
            </a:r>
            <a:endParaRPr lang="vi-V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2743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400" b="0">
                <a:solidFill>
                  <a:srgbClr val="20313F"/>
                </a:solidFill>
                <a:latin typeface="Noto Sans"/>
                <a:ea typeface="Noto Sans"/>
                <a:cs typeface="Noto Sans"/>
              </a:rPr>
              <a:t>CI PR có thể chạy merge SHA; CD GHCR chưa là deploy website.</a:t>
            </a:r>
            <a:endParaRPr lang="vi-V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2743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400" b="0">
                <a:solidFill>
                  <a:srgbClr val="20313F"/>
                </a:solidFill>
                <a:latin typeface="Noto Sans"/>
                <a:ea typeface="Noto Sans"/>
                <a:cs typeface="Noto Sans"/>
              </a:rPr>
              <a:t>SP13 có lệnh vận hành; không reset dữ liệu hiện có để làm đẹp demo.</a:t>
            </a:r>
            <a:endParaRPr lang="vi-V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2743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400" b="0">
                <a:solidFill>
                  <a:srgbClr val="20313F"/>
                </a:solidFill>
                <a:latin typeface="Noto Sans"/>
                <a:ea typeface="Noto Sans"/>
                <a:cs typeface="Noto Sans"/>
              </a:rPr>
              <a:t>SP14 có biên bản 09:00–11:30 và 14:00–16:30, Asia/Saigon; đây là lịch đề xuất.</a:t>
            </a:r>
            <a:endParaRPr lang="vi-V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2743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400" b="0">
                <a:solidFill>
                  <a:srgbClr val="20313F"/>
                </a:solidFill>
                <a:latin typeface="Noto Sans"/>
                <a:ea typeface="Noto Sans"/>
                <a:cs typeface="Noto Sans"/>
              </a:rPr>
              <a:t>Tổng 26,9% là trọng số cá nhân, không phải mức đạt hiện tại; sheet cập nhật đúng cell.</a:t>
            </a:r>
            <a:endParaRPr lang="vi-V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2743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400" b="0">
                <a:solidFill>
                  <a:srgbClr val="20313F"/>
                </a:solidFill>
                <a:latin typeface="Noto Sans"/>
                <a:ea typeface="Noto Sans"/>
                <a:cs typeface="Noto Sans"/>
              </a:rPr>
              <a:t>Mở artifact nguồn/exports; giải thích lịch sử completion khác progress hiện tại.</a:t>
            </a:r>
            <a:endParaRPr lang="vi-V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2743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400" b="0">
                <a:solidFill>
                  <a:srgbClr val="20313F"/>
                </a:solidFill>
                <a:latin typeface="Noto Sans"/>
                <a:ea typeface="Noto Sans"/>
                <a:cs typeface="Noto Sans"/>
              </a:rPr>
              <a:t>Kết thúc bằng hành vi chạy được và evidence, không nhận scope đích là đã xong.</a:t>
            </a:r>
            <a:endParaRPr lang="vi-VN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 txBox="1"/>
          <p:nvPr/>
        </p:nvSpPr>
        <p:spPr>
          <a:xfrm>
            <a:off x="762000" y="698500"/>
            <a:ext cx="533400" cy="635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3" name="Brand"/>
          <p:cNvSpPr txBox="1"/>
          <p:nvPr/>
        </p:nvSpPr>
        <p:spPr>
          <a:xfrm>
            <a:off x="762000" y="1016000"/>
            <a:ext cx="1054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ENGLISH LEARNING PLATFORM</a:t>
            </a:r>
            <a:endParaRPr lang="vi-VN"/>
          </a:p>
        </p:txBody>
      </p:sp>
      <p:sp>
        <p:nvSpPr>
          <p:cNvPr id="4" name="Title"/>
          <p:cNvSpPr txBox="1"/>
          <p:nvPr/>
        </p:nvSpPr>
        <p:spPr>
          <a:xfrm>
            <a:off x="762000" y="1651000"/>
            <a:ext cx="10668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32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Nền tảng học tiếng Anh</a:t>
            </a:r>
            <a:endParaRPr lang="vi-VN"/>
          </a:p>
        </p:txBody>
      </p:sp>
      <p:sp>
        <p:nvSpPr>
          <p:cNvPr id="5" name="BulletAccent"/>
          <p:cNvSpPr txBox="1"/>
          <p:nvPr/>
        </p:nvSpPr>
        <p:spPr>
          <a:xfrm>
            <a:off x="787400" y="30607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6" name="Bullet"/>
          <p:cNvSpPr txBox="1"/>
          <p:nvPr/>
        </p:nvSpPr>
        <p:spPr>
          <a:xfrm>
            <a:off x="1092200" y="29591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Học tập · Đánh giá · Hoàn thành khóa</a:t>
            </a:r>
            <a:endParaRPr lang="vi-VN"/>
          </a:p>
        </p:txBody>
      </p:sp>
      <p:sp>
        <p:nvSpPr>
          <p:cNvPr id="7" name="BulletAccent"/>
          <p:cNvSpPr txBox="1"/>
          <p:nvPr/>
        </p:nvSpPr>
        <p:spPr>
          <a:xfrm>
            <a:off x="787400" y="37211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8" name="Bullet"/>
          <p:cNvSpPr txBox="1"/>
          <p:nvPr/>
        </p:nvSpPr>
        <p:spPr>
          <a:xfrm>
            <a:off x="1092200" y="36195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ASP.NET Core MVC + SQL Server 2022</a:t>
            </a:r>
            <a:endParaRPr lang="vi-VN"/>
          </a:p>
        </p:txBody>
      </p:sp>
      <p:sp>
        <p:nvSpPr>
          <p:cNvPr id="9" name="BulletAccent"/>
          <p:cNvSpPr txBox="1"/>
          <p:nvPr/>
        </p:nvSpPr>
        <p:spPr>
          <a:xfrm>
            <a:off x="787400" y="43815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10" name="Bullet"/>
          <p:cNvSpPr txBox="1"/>
          <p:nvPr/>
        </p:nvSpPr>
        <p:spPr>
          <a:xfrm>
            <a:off x="1092200" y="42799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Sơn và nhóm triển khai · 16/10/2026</a:t>
            </a:r>
            <a:endParaRPr lang="vi-VN"/>
          </a:p>
        </p:txBody>
      </p:sp>
      <p:sp>
        <p:nvSpPr>
          <p:cNvPr id="20" name="Footer"/>
          <p:cNvSpPr txBox="1"/>
          <p:nvPr/>
        </p:nvSpPr>
        <p:spPr>
          <a:xfrm>
            <a:off x="762000" y="6350000"/>
            <a:ext cx="9855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9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.NET  /  LẬP TRÌNH HIỆN ĐẠI  /  QUẢN LÝ DỰ ÁN</a:t>
            </a:r>
            <a:endParaRPr lang="vi-VN"/>
          </a:p>
        </p:txBody>
      </p:sp>
      <p:sp>
        <p:nvSpPr>
          <p:cNvPr id="21" name="SlideNumber"/>
          <p:cNvSpPr txBox="1"/>
          <p:nvPr/>
        </p:nvSpPr>
        <p:spPr>
          <a:xfrm>
            <a:off x="10617200" y="6337300"/>
            <a:ext cx="81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39D4C3"/>
                </a:solidFill>
                <a:latin typeface="Noto Sans"/>
                <a:ea typeface="Noto Sans"/>
                <a:cs typeface="Noto Sans"/>
              </a:rPr>
              <a:t>01 / 28</a:t>
            </a:r>
            <a:endParaRPr lang="vi-V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 txBox="1"/>
          <p:nvPr/>
        </p:nvSpPr>
        <p:spPr>
          <a:xfrm>
            <a:off x="762000" y="698500"/>
            <a:ext cx="533400" cy="635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3" name="Brand"/>
          <p:cNvSpPr txBox="1"/>
          <p:nvPr/>
        </p:nvSpPr>
        <p:spPr>
          <a:xfrm>
            <a:off x="762000" y="1016000"/>
            <a:ext cx="1054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ENGLISH LEARNING PLATFORM</a:t>
            </a:r>
            <a:endParaRPr lang="vi-VN"/>
          </a:p>
        </p:txBody>
      </p:sp>
      <p:sp>
        <p:nvSpPr>
          <p:cNvPr id="4" name="Title"/>
          <p:cNvSpPr txBox="1"/>
          <p:nvPr/>
        </p:nvSpPr>
        <p:spPr>
          <a:xfrm>
            <a:off x="762000" y="1651000"/>
            <a:ext cx="10668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32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Bài toán cần giải quyết</a:t>
            </a:r>
            <a:endParaRPr lang="vi-VN"/>
          </a:p>
        </p:txBody>
      </p:sp>
      <p:sp>
        <p:nvSpPr>
          <p:cNvPr id="5" name="BulletAccent"/>
          <p:cNvSpPr txBox="1"/>
          <p:nvPr/>
        </p:nvSpPr>
        <p:spPr>
          <a:xfrm>
            <a:off x="787400" y="30607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6" name="Bullet"/>
          <p:cNvSpPr txBox="1"/>
          <p:nvPr/>
        </p:nvSpPr>
        <p:spPr>
          <a:xfrm>
            <a:off x="1092200" y="29591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Nội dung học và tiến độ nằm trong một hành trình</a:t>
            </a:r>
            <a:endParaRPr lang="vi-VN"/>
          </a:p>
        </p:txBody>
      </p:sp>
      <p:sp>
        <p:nvSpPr>
          <p:cNvPr id="7" name="BulletAccent"/>
          <p:cNvSpPr txBox="1"/>
          <p:nvPr/>
        </p:nvSpPr>
        <p:spPr>
          <a:xfrm>
            <a:off x="787400" y="37211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8" name="Bullet"/>
          <p:cNvSpPr txBox="1"/>
          <p:nvPr/>
        </p:nvSpPr>
        <p:spPr>
          <a:xfrm>
            <a:off x="1092200" y="36195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Quyền truy cập phải theo ghi danh và thanh toán</a:t>
            </a:r>
            <a:endParaRPr lang="vi-VN"/>
          </a:p>
        </p:txBody>
      </p:sp>
      <p:sp>
        <p:nvSpPr>
          <p:cNvPr id="9" name="BulletAccent"/>
          <p:cNvSpPr txBox="1"/>
          <p:nvPr/>
        </p:nvSpPr>
        <p:spPr>
          <a:xfrm>
            <a:off x="787400" y="43815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10" name="Bullet"/>
          <p:cNvSpPr txBox="1"/>
          <p:nvPr/>
        </p:nvSpPr>
        <p:spPr>
          <a:xfrm>
            <a:off x="1092200" y="42799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Điểm thi và lịch sử cần giữ nhất quán</a:t>
            </a:r>
            <a:endParaRPr lang="vi-VN"/>
          </a:p>
        </p:txBody>
      </p:sp>
      <p:sp>
        <p:nvSpPr>
          <p:cNvPr id="20" name="Footer"/>
          <p:cNvSpPr txBox="1"/>
          <p:nvPr/>
        </p:nvSpPr>
        <p:spPr>
          <a:xfrm>
            <a:off x="762000" y="6350000"/>
            <a:ext cx="9855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9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.NET  /  LẬP TRÌNH HIỆN ĐẠI  /  QUẢN LÝ DỰ ÁN</a:t>
            </a:r>
            <a:endParaRPr lang="vi-VN"/>
          </a:p>
        </p:txBody>
      </p:sp>
      <p:sp>
        <p:nvSpPr>
          <p:cNvPr id="21" name="SlideNumber"/>
          <p:cNvSpPr txBox="1"/>
          <p:nvPr/>
        </p:nvSpPr>
        <p:spPr>
          <a:xfrm>
            <a:off x="10617200" y="6337300"/>
            <a:ext cx="81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39D4C3"/>
                </a:solidFill>
                <a:latin typeface="Noto Sans"/>
                <a:ea typeface="Noto Sans"/>
                <a:cs typeface="Noto Sans"/>
              </a:rPr>
              <a:t>02 / 28</a:t>
            </a:r>
            <a:endParaRPr lang="vi-V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 txBox="1"/>
          <p:nvPr/>
        </p:nvSpPr>
        <p:spPr>
          <a:xfrm>
            <a:off x="762000" y="698500"/>
            <a:ext cx="533400" cy="635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3" name="Brand"/>
          <p:cNvSpPr txBox="1"/>
          <p:nvPr/>
        </p:nvSpPr>
        <p:spPr>
          <a:xfrm>
            <a:off x="762000" y="1016000"/>
            <a:ext cx="1054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ENGLISH LEARNING PLATFORM</a:t>
            </a:r>
            <a:endParaRPr lang="vi-VN"/>
          </a:p>
        </p:txBody>
      </p:sp>
      <p:sp>
        <p:nvSpPr>
          <p:cNvPr id="4" name="Title"/>
          <p:cNvSpPr txBox="1"/>
          <p:nvPr/>
        </p:nvSpPr>
        <p:spPr>
          <a:xfrm>
            <a:off x="762000" y="1651000"/>
            <a:ext cx="10668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32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Bốn nhóm người dùng</a:t>
            </a:r>
            <a:endParaRPr lang="vi-VN"/>
          </a:p>
        </p:txBody>
      </p:sp>
      <p:sp>
        <p:nvSpPr>
          <p:cNvPr id="5" name="BulletAccent"/>
          <p:cNvSpPr txBox="1"/>
          <p:nvPr/>
        </p:nvSpPr>
        <p:spPr>
          <a:xfrm>
            <a:off x="787400" y="30607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6" name="Bullet"/>
          <p:cNvSpPr txBox="1"/>
          <p:nvPr/>
        </p:nvSpPr>
        <p:spPr>
          <a:xfrm>
            <a:off x="1092200" y="29591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Guest: tìm hiểu khóa công khai</a:t>
            </a:r>
            <a:endParaRPr lang="vi-VN"/>
          </a:p>
        </p:txBody>
      </p:sp>
      <p:sp>
        <p:nvSpPr>
          <p:cNvPr id="7" name="BulletAccent"/>
          <p:cNvSpPr txBox="1"/>
          <p:nvPr/>
        </p:nvSpPr>
        <p:spPr>
          <a:xfrm>
            <a:off x="787400" y="37211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8" name="Bullet"/>
          <p:cNvSpPr txBox="1"/>
          <p:nvPr/>
        </p:nvSpPr>
        <p:spPr>
          <a:xfrm>
            <a:off x="1092200" y="36195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Student: mua, học, thi và xem kết quả</a:t>
            </a:r>
            <a:endParaRPr lang="vi-VN"/>
          </a:p>
        </p:txBody>
      </p:sp>
      <p:sp>
        <p:nvSpPr>
          <p:cNvPr id="9" name="BulletAccent"/>
          <p:cNvSpPr txBox="1"/>
          <p:nvPr/>
        </p:nvSpPr>
        <p:spPr>
          <a:xfrm>
            <a:off x="787400" y="43815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10" name="Bullet"/>
          <p:cNvSpPr txBox="1"/>
          <p:nvPr/>
        </p:nvSpPr>
        <p:spPr>
          <a:xfrm>
            <a:off x="1092200" y="42799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Teacher: quản lý nội dung sở hữu</a:t>
            </a:r>
            <a:endParaRPr lang="vi-VN"/>
          </a:p>
        </p:txBody>
      </p:sp>
      <p:sp>
        <p:nvSpPr>
          <p:cNvPr id="11" name="BulletAccent"/>
          <p:cNvSpPr txBox="1"/>
          <p:nvPr/>
        </p:nvSpPr>
        <p:spPr>
          <a:xfrm>
            <a:off x="787400" y="50419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12" name="Bullet"/>
          <p:cNvSpPr txBox="1"/>
          <p:nvPr/>
        </p:nvSpPr>
        <p:spPr>
          <a:xfrm>
            <a:off x="1092200" y="49403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Admin: tra cứu người dùng và giao dịch</a:t>
            </a:r>
            <a:endParaRPr lang="vi-VN"/>
          </a:p>
        </p:txBody>
      </p:sp>
      <p:sp>
        <p:nvSpPr>
          <p:cNvPr id="20" name="Footer"/>
          <p:cNvSpPr txBox="1"/>
          <p:nvPr/>
        </p:nvSpPr>
        <p:spPr>
          <a:xfrm>
            <a:off x="762000" y="6350000"/>
            <a:ext cx="9855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9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.NET  /  LẬP TRÌNH HIỆN ĐẠI  /  QUẢN LÝ DỰ ÁN</a:t>
            </a:r>
            <a:endParaRPr lang="vi-VN"/>
          </a:p>
        </p:txBody>
      </p:sp>
      <p:sp>
        <p:nvSpPr>
          <p:cNvPr id="21" name="SlideNumber"/>
          <p:cNvSpPr txBox="1"/>
          <p:nvPr/>
        </p:nvSpPr>
        <p:spPr>
          <a:xfrm>
            <a:off x="10617200" y="6337300"/>
            <a:ext cx="81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39D4C3"/>
                </a:solidFill>
                <a:latin typeface="Noto Sans"/>
                <a:ea typeface="Noto Sans"/>
                <a:cs typeface="Noto Sans"/>
              </a:rPr>
              <a:t>03 / 28</a:t>
            </a:r>
            <a:endParaRPr lang="vi-V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 txBox="1"/>
          <p:nvPr/>
        </p:nvSpPr>
        <p:spPr>
          <a:xfrm>
            <a:off x="762000" y="698500"/>
            <a:ext cx="533400" cy="635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3" name="Brand"/>
          <p:cNvSpPr txBox="1"/>
          <p:nvPr/>
        </p:nvSpPr>
        <p:spPr>
          <a:xfrm>
            <a:off x="762000" y="1016000"/>
            <a:ext cx="1054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ENGLISH LEARNING PLATFORM</a:t>
            </a:r>
            <a:endParaRPr lang="vi-VN"/>
          </a:p>
        </p:txBody>
      </p:sp>
      <p:sp>
        <p:nvSpPr>
          <p:cNvPr id="4" name="Title"/>
          <p:cNvSpPr txBox="1"/>
          <p:nvPr/>
        </p:nvSpPr>
        <p:spPr>
          <a:xfrm>
            <a:off x="762000" y="1651000"/>
            <a:ext cx="10668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32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Phạm vi bản ứng viên</a:t>
            </a:r>
            <a:endParaRPr lang="vi-VN"/>
          </a:p>
        </p:txBody>
      </p:sp>
      <p:sp>
        <p:nvSpPr>
          <p:cNvPr id="5" name="BulletAccent"/>
          <p:cNvSpPr txBox="1"/>
          <p:nvPr/>
        </p:nvSpPr>
        <p:spPr>
          <a:xfrm>
            <a:off x="787400" y="30607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6" name="Bullet"/>
          <p:cNvSpPr txBox="1"/>
          <p:nvPr/>
        </p:nvSpPr>
        <p:spPr>
          <a:xfrm>
            <a:off x="1092200" y="29591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Catalog · Identity · Checkout sandbox</a:t>
            </a:r>
            <a:endParaRPr lang="vi-VN"/>
          </a:p>
        </p:txBody>
      </p:sp>
      <p:sp>
        <p:nvSpPr>
          <p:cNvPr id="7" name="BulletAccent"/>
          <p:cNvSpPr txBox="1"/>
          <p:nvPr/>
        </p:nvSpPr>
        <p:spPr>
          <a:xfrm>
            <a:off x="787400" y="37211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8" name="Bullet"/>
          <p:cNvSpPr txBox="1"/>
          <p:nvPr/>
        </p:nvSpPr>
        <p:spPr>
          <a:xfrm>
            <a:off x="1092200" y="36195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Learning và tiến độ không ép thứ tự</a:t>
            </a:r>
            <a:endParaRPr lang="vi-VN"/>
          </a:p>
        </p:txBody>
      </p:sp>
      <p:sp>
        <p:nvSpPr>
          <p:cNvPr id="9" name="BulletAccent"/>
          <p:cNvSpPr txBox="1"/>
          <p:nvPr/>
        </p:nvSpPr>
        <p:spPr>
          <a:xfrm>
            <a:off x="787400" y="43815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10" name="Bullet"/>
          <p:cNvSpPr txBox="1"/>
          <p:nvPr/>
        </p:nvSpPr>
        <p:spPr>
          <a:xfrm>
            <a:off x="1092200" y="42799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Final Assessment, Result và Completion</a:t>
            </a:r>
            <a:endParaRPr lang="vi-VN"/>
          </a:p>
        </p:txBody>
      </p:sp>
      <p:sp>
        <p:nvSpPr>
          <p:cNvPr id="11" name="BulletAccent"/>
          <p:cNvSpPr txBox="1"/>
          <p:nvPr/>
        </p:nvSpPr>
        <p:spPr>
          <a:xfrm>
            <a:off x="787400" y="50419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12" name="Bullet"/>
          <p:cNvSpPr txBox="1"/>
          <p:nvPr/>
        </p:nvSpPr>
        <p:spPr>
          <a:xfrm>
            <a:off x="1092200" y="49403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Admin tra cứu · hồ sơ release</a:t>
            </a:r>
            <a:endParaRPr lang="vi-VN"/>
          </a:p>
        </p:txBody>
      </p:sp>
      <p:sp>
        <p:nvSpPr>
          <p:cNvPr id="20" name="Footer"/>
          <p:cNvSpPr txBox="1"/>
          <p:nvPr/>
        </p:nvSpPr>
        <p:spPr>
          <a:xfrm>
            <a:off x="762000" y="6350000"/>
            <a:ext cx="9855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9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.NET  /  LẬP TRÌNH HIỆN ĐẠI  /  QUẢN LÝ DỰ ÁN</a:t>
            </a:r>
            <a:endParaRPr lang="vi-VN"/>
          </a:p>
        </p:txBody>
      </p:sp>
      <p:sp>
        <p:nvSpPr>
          <p:cNvPr id="21" name="SlideNumber"/>
          <p:cNvSpPr txBox="1"/>
          <p:nvPr/>
        </p:nvSpPr>
        <p:spPr>
          <a:xfrm>
            <a:off x="10617200" y="6337300"/>
            <a:ext cx="81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39D4C3"/>
                </a:solidFill>
                <a:latin typeface="Noto Sans"/>
                <a:ea typeface="Noto Sans"/>
                <a:cs typeface="Noto Sans"/>
              </a:rPr>
              <a:t>04 / 28</a:t>
            </a:r>
            <a:endParaRPr lang="vi-V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 txBox="1"/>
          <p:nvPr/>
        </p:nvSpPr>
        <p:spPr>
          <a:xfrm>
            <a:off x="762000" y="698500"/>
            <a:ext cx="533400" cy="635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3" name="Brand"/>
          <p:cNvSpPr txBox="1"/>
          <p:nvPr/>
        </p:nvSpPr>
        <p:spPr>
          <a:xfrm>
            <a:off x="762000" y="1016000"/>
            <a:ext cx="1054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ENGLISH LEARNING PLATFORM</a:t>
            </a:r>
            <a:endParaRPr lang="vi-VN"/>
          </a:p>
        </p:txBody>
      </p:sp>
      <p:sp>
        <p:nvSpPr>
          <p:cNvPr id="4" name="Title"/>
          <p:cNvSpPr txBox="1"/>
          <p:nvPr/>
        </p:nvSpPr>
        <p:spPr>
          <a:xfrm>
            <a:off x="762000" y="1651000"/>
            <a:ext cx="10668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32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Luồng xuyên suốt</a:t>
            </a:r>
            <a:endParaRPr lang="vi-VN"/>
          </a:p>
        </p:txBody>
      </p:sp>
      <p:sp>
        <p:nvSpPr>
          <p:cNvPr id="5" name="BulletAccent"/>
          <p:cNvSpPr txBox="1"/>
          <p:nvPr/>
        </p:nvSpPr>
        <p:spPr>
          <a:xfrm>
            <a:off x="787400" y="30607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6" name="Bullet"/>
          <p:cNvSpPr txBox="1"/>
          <p:nvPr/>
        </p:nvSpPr>
        <p:spPr>
          <a:xfrm>
            <a:off x="1092200" y="29591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Payment → Enrollment → Learning</a:t>
            </a:r>
            <a:endParaRPr lang="vi-VN"/>
          </a:p>
        </p:txBody>
      </p:sp>
      <p:sp>
        <p:nvSpPr>
          <p:cNvPr id="7" name="BulletAccent"/>
          <p:cNvSpPr txBox="1"/>
          <p:nvPr/>
        </p:nvSpPr>
        <p:spPr>
          <a:xfrm>
            <a:off x="787400" y="37211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8" name="Bullet"/>
          <p:cNvSpPr txBox="1"/>
          <p:nvPr/>
        </p:nvSpPr>
        <p:spPr>
          <a:xfrm>
            <a:off x="1092200" y="36195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Learning → Assessment → Result</a:t>
            </a:r>
            <a:endParaRPr lang="vi-VN"/>
          </a:p>
        </p:txBody>
      </p:sp>
      <p:sp>
        <p:nvSpPr>
          <p:cNvPr id="9" name="BulletAccent"/>
          <p:cNvSpPr txBox="1"/>
          <p:nvPr/>
        </p:nvSpPr>
        <p:spPr>
          <a:xfrm>
            <a:off x="787400" y="43815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10" name="Bullet"/>
          <p:cNvSpPr txBox="1"/>
          <p:nvPr/>
        </p:nvSpPr>
        <p:spPr>
          <a:xfrm>
            <a:off x="1092200" y="42799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Đủ bài học + Final đạt → Completion</a:t>
            </a:r>
            <a:endParaRPr lang="vi-VN"/>
          </a:p>
        </p:txBody>
      </p:sp>
      <p:sp>
        <p:nvSpPr>
          <p:cNvPr id="20" name="Footer"/>
          <p:cNvSpPr txBox="1"/>
          <p:nvPr/>
        </p:nvSpPr>
        <p:spPr>
          <a:xfrm>
            <a:off x="762000" y="6350000"/>
            <a:ext cx="9855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9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.NET  /  LẬP TRÌNH HIỆN ĐẠI  /  QUẢN LÝ DỰ ÁN</a:t>
            </a:r>
            <a:endParaRPr lang="vi-VN"/>
          </a:p>
        </p:txBody>
      </p:sp>
      <p:sp>
        <p:nvSpPr>
          <p:cNvPr id="21" name="SlideNumber"/>
          <p:cNvSpPr txBox="1"/>
          <p:nvPr/>
        </p:nvSpPr>
        <p:spPr>
          <a:xfrm>
            <a:off x="10617200" y="6337300"/>
            <a:ext cx="81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39D4C3"/>
                </a:solidFill>
                <a:latin typeface="Noto Sans"/>
                <a:ea typeface="Noto Sans"/>
                <a:cs typeface="Noto Sans"/>
              </a:rPr>
              <a:t>05 / 28</a:t>
            </a:r>
            <a:endParaRPr lang="vi-V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 txBox="1"/>
          <p:nvPr/>
        </p:nvSpPr>
        <p:spPr>
          <a:xfrm>
            <a:off x="762000" y="698500"/>
            <a:ext cx="533400" cy="635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3" name="Brand"/>
          <p:cNvSpPr txBox="1"/>
          <p:nvPr/>
        </p:nvSpPr>
        <p:spPr>
          <a:xfrm>
            <a:off x="762000" y="1016000"/>
            <a:ext cx="1054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ENGLISH LEARNING PLATFORM</a:t>
            </a:r>
            <a:endParaRPr lang="vi-VN"/>
          </a:p>
        </p:txBody>
      </p:sp>
      <p:sp>
        <p:nvSpPr>
          <p:cNvPr id="4" name="Title"/>
          <p:cNvSpPr txBox="1"/>
          <p:nvPr/>
        </p:nvSpPr>
        <p:spPr>
          <a:xfrm>
            <a:off x="762000" y="1651000"/>
            <a:ext cx="10668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32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Một mã nguồn, ba môn</a:t>
            </a:r>
            <a:endParaRPr lang="vi-VN"/>
          </a:p>
        </p:txBody>
      </p:sp>
      <p:sp>
        <p:nvSpPr>
          <p:cNvPr id="5" name="BulletAccent"/>
          <p:cNvSpPr txBox="1"/>
          <p:nvPr/>
        </p:nvSpPr>
        <p:spPr>
          <a:xfrm>
            <a:off x="787400" y="30607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6" name="Bullet"/>
          <p:cNvSpPr txBox="1"/>
          <p:nvPr/>
        </p:nvSpPr>
        <p:spPr>
          <a:xfrm>
            <a:off x="1092200" y="29591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.NET: MVC, Identity, EF và migration</a:t>
            </a:r>
            <a:endParaRPr lang="vi-VN"/>
          </a:p>
        </p:txBody>
      </p:sp>
      <p:sp>
        <p:nvSpPr>
          <p:cNvPr id="7" name="BulletAccent"/>
          <p:cNvSpPr txBox="1"/>
          <p:nvPr/>
        </p:nvSpPr>
        <p:spPr>
          <a:xfrm>
            <a:off x="787400" y="37211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8" name="Bullet"/>
          <p:cNvSpPr txBox="1"/>
          <p:nvPr/>
        </p:nvSpPr>
        <p:spPr>
          <a:xfrm>
            <a:off x="1092200" y="36195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Hiện đại: DI, async, test và CI</a:t>
            </a:r>
            <a:endParaRPr lang="vi-VN"/>
          </a:p>
        </p:txBody>
      </p:sp>
      <p:sp>
        <p:nvSpPr>
          <p:cNvPr id="9" name="BulletAccent"/>
          <p:cNvSpPr txBox="1"/>
          <p:nvPr/>
        </p:nvSpPr>
        <p:spPr>
          <a:xfrm>
            <a:off x="787400" y="43815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10" name="Bullet"/>
          <p:cNvSpPr txBox="1"/>
          <p:nvPr/>
        </p:nvSpPr>
        <p:spPr>
          <a:xfrm>
            <a:off x="1092200" y="42799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QLDA: phạm vi, phụ thuộc và nghiệm thu</a:t>
            </a:r>
            <a:endParaRPr lang="vi-VN"/>
          </a:p>
        </p:txBody>
      </p:sp>
      <p:sp>
        <p:nvSpPr>
          <p:cNvPr id="20" name="Footer"/>
          <p:cNvSpPr txBox="1"/>
          <p:nvPr/>
        </p:nvSpPr>
        <p:spPr>
          <a:xfrm>
            <a:off x="762000" y="6350000"/>
            <a:ext cx="9855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9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.NET  /  LẬP TRÌNH HIỆN ĐẠI  /  QUẢN LÝ DỰ ÁN</a:t>
            </a:r>
            <a:endParaRPr lang="vi-VN"/>
          </a:p>
        </p:txBody>
      </p:sp>
      <p:sp>
        <p:nvSpPr>
          <p:cNvPr id="21" name="SlideNumber"/>
          <p:cNvSpPr txBox="1"/>
          <p:nvPr/>
        </p:nvSpPr>
        <p:spPr>
          <a:xfrm>
            <a:off x="10617200" y="6337300"/>
            <a:ext cx="81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39D4C3"/>
                </a:solidFill>
                <a:latin typeface="Noto Sans"/>
                <a:ea typeface="Noto Sans"/>
                <a:cs typeface="Noto Sans"/>
              </a:rPr>
              <a:t>06 / 28</a:t>
            </a:r>
            <a:endParaRPr lang="vi-V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 txBox="1"/>
          <p:nvPr/>
        </p:nvSpPr>
        <p:spPr>
          <a:xfrm>
            <a:off x="762000" y="698500"/>
            <a:ext cx="533400" cy="635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3" name="Brand"/>
          <p:cNvSpPr txBox="1"/>
          <p:nvPr/>
        </p:nvSpPr>
        <p:spPr>
          <a:xfrm>
            <a:off x="762000" y="1016000"/>
            <a:ext cx="1054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ENGLISH LEARNING PLATFORM</a:t>
            </a:r>
            <a:endParaRPr lang="vi-VN"/>
          </a:p>
        </p:txBody>
      </p:sp>
      <p:sp>
        <p:nvSpPr>
          <p:cNvPr id="4" name="Title"/>
          <p:cNvSpPr txBox="1"/>
          <p:nvPr/>
        </p:nvSpPr>
        <p:spPr>
          <a:xfrm>
            <a:off x="762000" y="1651000"/>
            <a:ext cx="10668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32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Kiến trúc bốn lớp</a:t>
            </a:r>
            <a:endParaRPr lang="vi-VN"/>
          </a:p>
        </p:txBody>
      </p:sp>
      <p:sp>
        <p:nvSpPr>
          <p:cNvPr id="5" name="BulletAccent"/>
          <p:cNvSpPr txBox="1"/>
          <p:nvPr/>
        </p:nvSpPr>
        <p:spPr>
          <a:xfrm>
            <a:off x="787400" y="30607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6" name="Bullet"/>
          <p:cNvSpPr txBox="1"/>
          <p:nvPr/>
        </p:nvSpPr>
        <p:spPr>
          <a:xfrm>
            <a:off x="1092200" y="29591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Web: request, policy và Razor</a:t>
            </a:r>
            <a:endParaRPr lang="vi-VN"/>
          </a:p>
        </p:txBody>
      </p:sp>
      <p:sp>
        <p:nvSpPr>
          <p:cNvPr id="7" name="BulletAccent"/>
          <p:cNvSpPr txBox="1"/>
          <p:nvPr/>
        </p:nvSpPr>
        <p:spPr>
          <a:xfrm>
            <a:off x="787400" y="37211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8" name="Bullet"/>
          <p:cNvSpPr txBox="1"/>
          <p:nvPr/>
        </p:nvSpPr>
        <p:spPr>
          <a:xfrm>
            <a:off x="1092200" y="36195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Application: interface, DTO và use case</a:t>
            </a:r>
            <a:endParaRPr lang="vi-VN"/>
          </a:p>
        </p:txBody>
      </p:sp>
      <p:sp>
        <p:nvSpPr>
          <p:cNvPr id="9" name="BulletAccent"/>
          <p:cNvSpPr txBox="1"/>
          <p:nvPr/>
        </p:nvSpPr>
        <p:spPr>
          <a:xfrm>
            <a:off x="787400" y="43815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10" name="Bullet"/>
          <p:cNvSpPr txBox="1"/>
          <p:nvPr/>
        </p:nvSpPr>
        <p:spPr>
          <a:xfrm>
            <a:off x="1092200" y="42799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Domain: entity và invariant</a:t>
            </a:r>
            <a:endParaRPr lang="vi-VN"/>
          </a:p>
        </p:txBody>
      </p:sp>
      <p:sp>
        <p:nvSpPr>
          <p:cNvPr id="11" name="BulletAccent"/>
          <p:cNvSpPr txBox="1"/>
          <p:nvPr/>
        </p:nvSpPr>
        <p:spPr>
          <a:xfrm>
            <a:off x="787400" y="50419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12" name="Bullet"/>
          <p:cNvSpPr txBox="1"/>
          <p:nvPr/>
        </p:nvSpPr>
        <p:spPr>
          <a:xfrm>
            <a:off x="1092200" y="49403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Infrastructure: EF, Identity và transaction</a:t>
            </a:r>
            <a:endParaRPr lang="vi-VN"/>
          </a:p>
        </p:txBody>
      </p:sp>
      <p:sp>
        <p:nvSpPr>
          <p:cNvPr id="20" name="Footer"/>
          <p:cNvSpPr txBox="1"/>
          <p:nvPr/>
        </p:nvSpPr>
        <p:spPr>
          <a:xfrm>
            <a:off x="762000" y="6350000"/>
            <a:ext cx="9855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9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.NET  /  LẬP TRÌNH HIỆN ĐẠI  /  QUẢN LÝ DỰ ÁN</a:t>
            </a:r>
            <a:endParaRPr lang="vi-VN"/>
          </a:p>
        </p:txBody>
      </p:sp>
      <p:sp>
        <p:nvSpPr>
          <p:cNvPr id="21" name="SlideNumber"/>
          <p:cNvSpPr txBox="1"/>
          <p:nvPr/>
        </p:nvSpPr>
        <p:spPr>
          <a:xfrm>
            <a:off x="10617200" y="6337300"/>
            <a:ext cx="81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39D4C3"/>
                </a:solidFill>
                <a:latin typeface="Noto Sans"/>
                <a:ea typeface="Noto Sans"/>
                <a:cs typeface="Noto Sans"/>
              </a:rPr>
              <a:t>07 / 28</a:t>
            </a:r>
            <a:endParaRPr lang="vi-V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 txBox="1"/>
          <p:nvPr/>
        </p:nvSpPr>
        <p:spPr>
          <a:xfrm>
            <a:off x="762000" y="698500"/>
            <a:ext cx="533400" cy="635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3" name="Brand"/>
          <p:cNvSpPr txBox="1"/>
          <p:nvPr/>
        </p:nvSpPr>
        <p:spPr>
          <a:xfrm>
            <a:off x="762000" y="1016000"/>
            <a:ext cx="1054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ENGLISH LEARNING PLATFORM</a:t>
            </a:r>
            <a:endParaRPr lang="vi-VN"/>
          </a:p>
        </p:txBody>
      </p:sp>
      <p:sp>
        <p:nvSpPr>
          <p:cNvPr id="4" name="Title"/>
          <p:cNvSpPr txBox="1"/>
          <p:nvPr/>
        </p:nvSpPr>
        <p:spPr>
          <a:xfrm>
            <a:off x="762000" y="1651000"/>
            <a:ext cx="10668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32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Request qua middleware</a:t>
            </a:r>
            <a:endParaRPr lang="vi-VN"/>
          </a:p>
        </p:txBody>
      </p:sp>
      <p:sp>
        <p:nvSpPr>
          <p:cNvPr id="5" name="BulletAccent"/>
          <p:cNvSpPr txBox="1"/>
          <p:nvPr/>
        </p:nvSpPr>
        <p:spPr>
          <a:xfrm>
            <a:off x="787400" y="30607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6" name="Bullet"/>
          <p:cNvSpPr txBox="1"/>
          <p:nvPr/>
        </p:nvSpPr>
        <p:spPr>
          <a:xfrm>
            <a:off x="1092200" y="29591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HTTPS và routing</a:t>
            </a:r>
            <a:endParaRPr lang="vi-VN"/>
          </a:p>
        </p:txBody>
      </p:sp>
      <p:sp>
        <p:nvSpPr>
          <p:cNvPr id="7" name="BulletAccent"/>
          <p:cNvSpPr txBox="1"/>
          <p:nvPr/>
        </p:nvSpPr>
        <p:spPr>
          <a:xfrm>
            <a:off x="787400" y="37211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8" name="Bullet"/>
          <p:cNvSpPr txBox="1"/>
          <p:nvPr/>
        </p:nvSpPr>
        <p:spPr>
          <a:xfrm>
            <a:off x="1092200" y="36195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Authentication → Authorization</a:t>
            </a:r>
            <a:endParaRPr lang="vi-VN"/>
          </a:p>
        </p:txBody>
      </p:sp>
      <p:sp>
        <p:nvSpPr>
          <p:cNvPr id="9" name="BulletAccent"/>
          <p:cNvSpPr txBox="1"/>
          <p:nvPr/>
        </p:nvSpPr>
        <p:spPr>
          <a:xfrm>
            <a:off x="787400" y="43815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10" name="Bullet"/>
          <p:cNvSpPr txBox="1"/>
          <p:nvPr/>
        </p:nvSpPr>
        <p:spPr>
          <a:xfrm>
            <a:off x="1092200" y="42799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MVC → service → SQL Server</a:t>
            </a:r>
            <a:endParaRPr lang="vi-VN"/>
          </a:p>
        </p:txBody>
      </p:sp>
      <p:sp>
        <p:nvSpPr>
          <p:cNvPr id="11" name="BulletAccent"/>
          <p:cNvSpPr txBox="1"/>
          <p:nvPr/>
        </p:nvSpPr>
        <p:spPr>
          <a:xfrm>
            <a:off x="787400" y="50419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12" name="Bullet"/>
          <p:cNvSpPr txBox="1"/>
          <p:nvPr/>
        </p:nvSpPr>
        <p:spPr>
          <a:xfrm>
            <a:off x="1092200" y="49403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Response theo quyền và trạng thái</a:t>
            </a:r>
            <a:endParaRPr lang="vi-VN"/>
          </a:p>
        </p:txBody>
      </p:sp>
      <p:sp>
        <p:nvSpPr>
          <p:cNvPr id="20" name="Footer"/>
          <p:cNvSpPr txBox="1"/>
          <p:nvPr/>
        </p:nvSpPr>
        <p:spPr>
          <a:xfrm>
            <a:off x="762000" y="6350000"/>
            <a:ext cx="9855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9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.NET  /  LẬP TRÌNH HIỆN ĐẠI  /  QUẢN LÝ DỰ ÁN</a:t>
            </a:r>
            <a:endParaRPr lang="vi-VN"/>
          </a:p>
        </p:txBody>
      </p:sp>
      <p:sp>
        <p:nvSpPr>
          <p:cNvPr id="21" name="SlideNumber"/>
          <p:cNvSpPr txBox="1"/>
          <p:nvPr/>
        </p:nvSpPr>
        <p:spPr>
          <a:xfrm>
            <a:off x="10617200" y="6337300"/>
            <a:ext cx="81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39D4C3"/>
                </a:solidFill>
                <a:latin typeface="Noto Sans"/>
                <a:ea typeface="Noto Sans"/>
                <a:cs typeface="Noto Sans"/>
              </a:rPr>
              <a:t>08 / 28</a:t>
            </a:r>
            <a:endParaRPr lang="vi-V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 txBox="1"/>
          <p:nvPr/>
        </p:nvSpPr>
        <p:spPr>
          <a:xfrm>
            <a:off x="762000" y="698500"/>
            <a:ext cx="533400" cy="635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3" name="Brand"/>
          <p:cNvSpPr txBox="1"/>
          <p:nvPr/>
        </p:nvSpPr>
        <p:spPr>
          <a:xfrm>
            <a:off x="762000" y="1016000"/>
            <a:ext cx="1054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ENGLISH LEARNING PLATFORM</a:t>
            </a:r>
            <a:endParaRPr lang="vi-VN"/>
          </a:p>
        </p:txBody>
      </p:sp>
      <p:sp>
        <p:nvSpPr>
          <p:cNvPr id="4" name="Title"/>
          <p:cNvSpPr txBox="1"/>
          <p:nvPr/>
        </p:nvSpPr>
        <p:spPr>
          <a:xfrm>
            <a:off x="762000" y="1651000"/>
            <a:ext cx="10668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32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Mô hình Learning</a:t>
            </a:r>
            <a:endParaRPr lang="vi-VN"/>
          </a:p>
        </p:txBody>
      </p:sp>
      <p:sp>
        <p:nvSpPr>
          <p:cNvPr id="5" name="BulletAccent"/>
          <p:cNvSpPr txBox="1"/>
          <p:nvPr/>
        </p:nvSpPr>
        <p:spPr>
          <a:xfrm>
            <a:off x="787400" y="30607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6" name="Bullet"/>
          <p:cNvSpPr txBox="1"/>
          <p:nvPr/>
        </p:nvSpPr>
        <p:spPr>
          <a:xfrm>
            <a:off x="1092200" y="29591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Course → Module → Lesson → Resource</a:t>
            </a:r>
            <a:endParaRPr lang="vi-VN"/>
          </a:p>
        </p:txBody>
      </p:sp>
      <p:sp>
        <p:nvSpPr>
          <p:cNvPr id="7" name="BulletAccent"/>
          <p:cNvSpPr txBox="1"/>
          <p:nvPr/>
        </p:nvSpPr>
        <p:spPr>
          <a:xfrm>
            <a:off x="787400" y="37211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8" name="Bullet"/>
          <p:cNvSpPr txBox="1"/>
          <p:nvPr/>
        </p:nvSpPr>
        <p:spPr>
          <a:xfrm>
            <a:off x="1092200" y="36195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Enrollment nối Student với Course</a:t>
            </a:r>
            <a:endParaRPr lang="vi-VN"/>
          </a:p>
        </p:txBody>
      </p:sp>
      <p:sp>
        <p:nvSpPr>
          <p:cNvPr id="9" name="BulletAccent"/>
          <p:cNvSpPr txBox="1"/>
          <p:nvPr/>
        </p:nvSpPr>
        <p:spPr>
          <a:xfrm>
            <a:off x="787400" y="43815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10" name="Bullet"/>
          <p:cNvSpPr txBox="1"/>
          <p:nvPr/>
        </p:nvSpPr>
        <p:spPr>
          <a:xfrm>
            <a:off x="1092200" y="42799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LessonProgress lưu Completed/Incomplete</a:t>
            </a:r>
            <a:endParaRPr lang="vi-VN"/>
          </a:p>
        </p:txBody>
      </p:sp>
      <p:sp>
        <p:nvSpPr>
          <p:cNvPr id="11" name="BulletAccent"/>
          <p:cNvSpPr txBox="1"/>
          <p:nvPr/>
        </p:nvSpPr>
        <p:spPr>
          <a:xfrm>
            <a:off x="787400" y="50419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12" name="Bullet"/>
          <p:cNvSpPr txBox="1"/>
          <p:nvPr/>
        </p:nvSpPr>
        <p:spPr>
          <a:xfrm>
            <a:off x="1092200" y="49403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Chỉ Published trong Visible Module tính tiến độ</a:t>
            </a:r>
            <a:endParaRPr lang="vi-VN"/>
          </a:p>
        </p:txBody>
      </p:sp>
      <p:sp>
        <p:nvSpPr>
          <p:cNvPr id="20" name="Footer"/>
          <p:cNvSpPr txBox="1"/>
          <p:nvPr/>
        </p:nvSpPr>
        <p:spPr>
          <a:xfrm>
            <a:off x="762000" y="6350000"/>
            <a:ext cx="9855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9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.NET  /  LẬP TRÌNH HIỆN ĐẠI  /  QUẢN LÝ DỰ ÁN</a:t>
            </a:r>
            <a:endParaRPr lang="vi-VN"/>
          </a:p>
        </p:txBody>
      </p:sp>
      <p:sp>
        <p:nvSpPr>
          <p:cNvPr id="21" name="SlideNumber"/>
          <p:cNvSpPr txBox="1"/>
          <p:nvPr/>
        </p:nvSpPr>
        <p:spPr>
          <a:xfrm>
            <a:off x="10617200" y="6337300"/>
            <a:ext cx="81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39D4C3"/>
                </a:solidFill>
                <a:latin typeface="Noto Sans"/>
                <a:ea typeface="Noto Sans"/>
                <a:cs typeface="Noto Sans"/>
              </a:rPr>
              <a:t>09 / 28</a:t>
            </a:r>
            <a:endParaRPr lang="vi-V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 txBox="1"/>
          <p:nvPr/>
        </p:nvSpPr>
        <p:spPr>
          <a:xfrm>
            <a:off x="762000" y="698500"/>
            <a:ext cx="533400" cy="635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3" name="Brand"/>
          <p:cNvSpPr txBox="1"/>
          <p:nvPr/>
        </p:nvSpPr>
        <p:spPr>
          <a:xfrm>
            <a:off x="762000" y="1016000"/>
            <a:ext cx="1054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ENGLISH LEARNING PLATFORM</a:t>
            </a:r>
            <a:endParaRPr lang="vi-VN"/>
          </a:p>
        </p:txBody>
      </p:sp>
      <p:sp>
        <p:nvSpPr>
          <p:cNvPr id="4" name="Title"/>
          <p:cNvSpPr txBox="1"/>
          <p:nvPr/>
        </p:nvSpPr>
        <p:spPr>
          <a:xfrm>
            <a:off x="762000" y="1651000"/>
            <a:ext cx="10668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32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Mô hình Assessment</a:t>
            </a:r>
            <a:endParaRPr lang="vi-VN"/>
          </a:p>
        </p:txBody>
      </p:sp>
      <p:sp>
        <p:nvSpPr>
          <p:cNvPr id="5" name="BulletAccent"/>
          <p:cNvSpPr txBox="1"/>
          <p:nvPr/>
        </p:nvSpPr>
        <p:spPr>
          <a:xfrm>
            <a:off x="787400" y="30607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6" name="Bullet"/>
          <p:cNvSpPr txBox="1"/>
          <p:nvPr/>
        </p:nvSpPr>
        <p:spPr>
          <a:xfrm>
            <a:off x="1092200" y="29591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Assessment → Question và Points</a:t>
            </a:r>
            <a:endParaRPr lang="vi-VN"/>
          </a:p>
        </p:txBody>
      </p:sp>
      <p:sp>
        <p:nvSpPr>
          <p:cNvPr id="7" name="BulletAccent"/>
          <p:cNvSpPr txBox="1"/>
          <p:nvPr/>
        </p:nvSpPr>
        <p:spPr>
          <a:xfrm>
            <a:off x="787400" y="37211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8" name="Bullet"/>
          <p:cNvSpPr txBox="1"/>
          <p:nvPr/>
        </p:nvSpPr>
        <p:spPr>
          <a:xfrm>
            <a:off x="1092200" y="36195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Attempt giữ deadline, status và score</a:t>
            </a:r>
            <a:endParaRPr lang="vi-VN"/>
          </a:p>
        </p:txBody>
      </p:sp>
      <p:sp>
        <p:nvSpPr>
          <p:cNvPr id="9" name="BulletAccent"/>
          <p:cNvSpPr txBox="1"/>
          <p:nvPr/>
        </p:nvSpPr>
        <p:spPr>
          <a:xfrm>
            <a:off x="787400" y="43815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10" name="Bullet"/>
          <p:cNvSpPr txBox="1"/>
          <p:nvPr/>
        </p:nvSpPr>
        <p:spPr>
          <a:xfrm>
            <a:off x="1092200" y="42799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Answer chỉ thuộc câu của đề đang làm</a:t>
            </a:r>
            <a:endParaRPr lang="vi-VN"/>
          </a:p>
        </p:txBody>
      </p:sp>
      <p:sp>
        <p:nvSpPr>
          <p:cNvPr id="11" name="BulletAccent"/>
          <p:cNvSpPr txBox="1"/>
          <p:nvPr/>
        </p:nvSpPr>
        <p:spPr>
          <a:xfrm>
            <a:off x="787400" y="50419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12" name="Bullet"/>
          <p:cNvSpPr txBox="1"/>
          <p:nvPr/>
        </p:nvSpPr>
        <p:spPr>
          <a:xfrm>
            <a:off x="1092200" y="49403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SkillResult được lưu cùng grade</a:t>
            </a:r>
            <a:endParaRPr lang="vi-VN"/>
          </a:p>
        </p:txBody>
      </p:sp>
      <p:sp>
        <p:nvSpPr>
          <p:cNvPr id="20" name="Footer"/>
          <p:cNvSpPr txBox="1"/>
          <p:nvPr/>
        </p:nvSpPr>
        <p:spPr>
          <a:xfrm>
            <a:off x="762000" y="6350000"/>
            <a:ext cx="9855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9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.NET  /  LẬP TRÌNH HIỆN ĐẠI  /  QUẢN LÝ DỰ ÁN</a:t>
            </a:r>
            <a:endParaRPr lang="vi-VN"/>
          </a:p>
        </p:txBody>
      </p:sp>
      <p:sp>
        <p:nvSpPr>
          <p:cNvPr id="21" name="SlideNumber"/>
          <p:cNvSpPr txBox="1"/>
          <p:nvPr/>
        </p:nvSpPr>
        <p:spPr>
          <a:xfrm>
            <a:off x="10617200" y="6337300"/>
            <a:ext cx="81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39D4C3"/>
                </a:solidFill>
                <a:latin typeface="Noto Sans"/>
                <a:ea typeface="Noto Sans"/>
                <a:cs typeface="Noto Sans"/>
              </a:rPr>
              <a:t>10 / 28</a:t>
            </a:r>
            <a:endParaRPr lang="vi-V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 txBox="1"/>
          <p:nvPr/>
        </p:nvSpPr>
        <p:spPr>
          <a:xfrm>
            <a:off x="762000" y="698500"/>
            <a:ext cx="533400" cy="635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3" name="Brand"/>
          <p:cNvSpPr txBox="1"/>
          <p:nvPr/>
        </p:nvSpPr>
        <p:spPr>
          <a:xfrm>
            <a:off x="762000" y="1016000"/>
            <a:ext cx="1054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ENGLISH LEARNING PLATFORM</a:t>
            </a:r>
            <a:endParaRPr lang="vi-VN"/>
          </a:p>
        </p:txBody>
      </p:sp>
      <p:sp>
        <p:nvSpPr>
          <p:cNvPr id="4" name="Title"/>
          <p:cNvSpPr txBox="1"/>
          <p:nvPr/>
        </p:nvSpPr>
        <p:spPr>
          <a:xfrm>
            <a:off x="762000" y="1651000"/>
            <a:ext cx="10668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32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Identity và phân quyền</a:t>
            </a:r>
            <a:endParaRPr lang="vi-VN"/>
          </a:p>
        </p:txBody>
      </p:sp>
      <p:sp>
        <p:nvSpPr>
          <p:cNvPr id="5" name="BulletAccent"/>
          <p:cNvSpPr txBox="1"/>
          <p:nvPr/>
        </p:nvSpPr>
        <p:spPr>
          <a:xfrm>
            <a:off x="787400" y="30607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6" name="Bullet"/>
          <p:cNvSpPr txBox="1"/>
          <p:nvPr/>
        </p:nvSpPr>
        <p:spPr>
          <a:xfrm>
            <a:off x="1092200" y="29591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Một active role: Student, Teacher hoặc Admin</a:t>
            </a:r>
            <a:endParaRPr lang="vi-VN"/>
          </a:p>
        </p:txBody>
      </p:sp>
      <p:sp>
        <p:nvSpPr>
          <p:cNvPr id="7" name="BulletAccent"/>
          <p:cNvSpPr txBox="1"/>
          <p:nvPr/>
        </p:nvSpPr>
        <p:spPr>
          <a:xfrm>
            <a:off x="787400" y="37211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8" name="Bullet"/>
          <p:cNvSpPr txBox="1"/>
          <p:nvPr/>
        </p:nvSpPr>
        <p:spPr>
          <a:xfrm>
            <a:off x="1092200" y="36195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Locked/Disabled chặn phiên cũ</a:t>
            </a:r>
            <a:endParaRPr lang="vi-VN"/>
          </a:p>
        </p:txBody>
      </p:sp>
      <p:sp>
        <p:nvSpPr>
          <p:cNvPr id="9" name="BulletAccent"/>
          <p:cNvSpPr txBox="1"/>
          <p:nvPr/>
        </p:nvSpPr>
        <p:spPr>
          <a:xfrm>
            <a:off x="787400" y="43815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10" name="Bullet"/>
          <p:cNvSpPr txBox="1"/>
          <p:nvPr/>
        </p:nvSpPr>
        <p:spPr>
          <a:xfrm>
            <a:off x="1092200" y="42799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Teacher ownership kiểm tra ở server</a:t>
            </a:r>
            <a:endParaRPr lang="vi-VN"/>
          </a:p>
        </p:txBody>
      </p:sp>
      <p:sp>
        <p:nvSpPr>
          <p:cNvPr id="11" name="BulletAccent"/>
          <p:cNvSpPr txBox="1"/>
          <p:nvPr/>
        </p:nvSpPr>
        <p:spPr>
          <a:xfrm>
            <a:off x="787400" y="50419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12" name="Bullet"/>
          <p:cNvSpPr txBox="1"/>
          <p:nvPr/>
        </p:nvSpPr>
        <p:spPr>
          <a:xfrm>
            <a:off x="1092200" y="49403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Admin không sửa nội dung Teacher</a:t>
            </a:r>
            <a:endParaRPr lang="vi-VN"/>
          </a:p>
        </p:txBody>
      </p:sp>
      <p:sp>
        <p:nvSpPr>
          <p:cNvPr id="20" name="Footer"/>
          <p:cNvSpPr txBox="1"/>
          <p:nvPr/>
        </p:nvSpPr>
        <p:spPr>
          <a:xfrm>
            <a:off x="762000" y="6350000"/>
            <a:ext cx="9855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9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.NET  /  LẬP TRÌNH HIỆN ĐẠI  /  QUẢN LÝ DỰ ÁN</a:t>
            </a:r>
            <a:endParaRPr lang="vi-VN"/>
          </a:p>
        </p:txBody>
      </p:sp>
      <p:sp>
        <p:nvSpPr>
          <p:cNvPr id="21" name="SlideNumber"/>
          <p:cNvSpPr txBox="1"/>
          <p:nvPr/>
        </p:nvSpPr>
        <p:spPr>
          <a:xfrm>
            <a:off x="10617200" y="6337300"/>
            <a:ext cx="81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39D4C3"/>
                </a:solidFill>
                <a:latin typeface="Noto Sans"/>
                <a:ea typeface="Noto Sans"/>
                <a:cs typeface="Noto Sans"/>
              </a:rPr>
              <a:t>11 / 28</a:t>
            </a:r>
            <a:endParaRPr lang="vi-V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 txBox="1"/>
          <p:nvPr/>
        </p:nvSpPr>
        <p:spPr>
          <a:xfrm>
            <a:off x="762000" y="698500"/>
            <a:ext cx="533400" cy="635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3" name="Brand"/>
          <p:cNvSpPr txBox="1"/>
          <p:nvPr/>
        </p:nvSpPr>
        <p:spPr>
          <a:xfrm>
            <a:off x="762000" y="1016000"/>
            <a:ext cx="1054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ENGLISH LEARNING PLATFORM</a:t>
            </a:r>
            <a:endParaRPr lang="vi-VN"/>
          </a:p>
        </p:txBody>
      </p:sp>
      <p:sp>
        <p:nvSpPr>
          <p:cNvPr id="4" name="Title"/>
          <p:cNvSpPr txBox="1"/>
          <p:nvPr/>
        </p:nvSpPr>
        <p:spPr>
          <a:xfrm>
            <a:off x="762000" y="1651000"/>
            <a:ext cx="10668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32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CSRF, XSS và secrets</a:t>
            </a:r>
            <a:endParaRPr lang="vi-VN"/>
          </a:p>
        </p:txBody>
      </p:sp>
      <p:sp>
        <p:nvSpPr>
          <p:cNvPr id="5" name="BulletAccent"/>
          <p:cNvSpPr txBox="1"/>
          <p:nvPr/>
        </p:nvSpPr>
        <p:spPr>
          <a:xfrm>
            <a:off x="787400" y="30607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6" name="Bullet"/>
          <p:cNvSpPr txBox="1"/>
          <p:nvPr/>
        </p:nvSpPr>
        <p:spPr>
          <a:xfrm>
            <a:off x="1092200" y="29591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Form mutation có antiforgery token</a:t>
            </a:r>
            <a:endParaRPr lang="vi-VN"/>
          </a:p>
        </p:txBody>
      </p:sp>
      <p:sp>
        <p:nvSpPr>
          <p:cNvPr id="7" name="BulletAccent"/>
          <p:cNvSpPr txBox="1"/>
          <p:nvPr/>
        </p:nvSpPr>
        <p:spPr>
          <a:xfrm>
            <a:off x="787400" y="37211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8" name="Bullet"/>
          <p:cNvSpPr txBox="1"/>
          <p:nvPr/>
        </p:nvSpPr>
        <p:spPr>
          <a:xfrm>
            <a:off x="1092200" y="36195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Razor encode, EF parameterization</a:t>
            </a:r>
            <a:endParaRPr lang="vi-VN"/>
          </a:p>
        </p:txBody>
      </p:sp>
      <p:sp>
        <p:nvSpPr>
          <p:cNvPr id="9" name="BulletAccent"/>
          <p:cNvSpPr txBox="1"/>
          <p:nvPr/>
        </p:nvSpPr>
        <p:spPr>
          <a:xfrm>
            <a:off x="787400" y="43815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10" name="Bullet"/>
          <p:cNvSpPr txBox="1"/>
          <p:nvPr/>
        </p:nvSpPr>
        <p:spPr>
          <a:xfrm>
            <a:off x="1092200" y="42799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Cookie HttpOnly, SameSite và Secure HTTPS</a:t>
            </a:r>
            <a:endParaRPr lang="vi-VN"/>
          </a:p>
        </p:txBody>
      </p:sp>
      <p:sp>
        <p:nvSpPr>
          <p:cNvPr id="11" name="BulletAccent"/>
          <p:cNvSpPr txBox="1"/>
          <p:nvPr/>
        </p:nvSpPr>
        <p:spPr>
          <a:xfrm>
            <a:off x="787400" y="50419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12" name="Bullet"/>
          <p:cNvSpPr txBox="1"/>
          <p:nvPr/>
        </p:nvSpPr>
        <p:spPr>
          <a:xfrm>
            <a:off x="1092200" y="49403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Secret từ environment hoặc user-secrets</a:t>
            </a:r>
            <a:endParaRPr lang="vi-VN"/>
          </a:p>
        </p:txBody>
      </p:sp>
      <p:sp>
        <p:nvSpPr>
          <p:cNvPr id="20" name="Footer"/>
          <p:cNvSpPr txBox="1"/>
          <p:nvPr/>
        </p:nvSpPr>
        <p:spPr>
          <a:xfrm>
            <a:off x="762000" y="6350000"/>
            <a:ext cx="9855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9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.NET  /  LẬP TRÌNH HIỆN ĐẠI  /  QUẢN LÝ DỰ ÁN</a:t>
            </a:r>
            <a:endParaRPr lang="vi-VN"/>
          </a:p>
        </p:txBody>
      </p:sp>
      <p:sp>
        <p:nvSpPr>
          <p:cNvPr id="21" name="SlideNumber"/>
          <p:cNvSpPr txBox="1"/>
          <p:nvPr/>
        </p:nvSpPr>
        <p:spPr>
          <a:xfrm>
            <a:off x="10617200" y="6337300"/>
            <a:ext cx="81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39D4C3"/>
                </a:solidFill>
                <a:latin typeface="Noto Sans"/>
                <a:ea typeface="Noto Sans"/>
                <a:cs typeface="Noto Sans"/>
              </a:rPr>
              <a:t>12 / 28</a:t>
            </a:r>
            <a:endParaRPr lang="vi-V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 txBox="1"/>
          <p:nvPr/>
        </p:nvSpPr>
        <p:spPr>
          <a:xfrm>
            <a:off x="762000" y="698500"/>
            <a:ext cx="533400" cy="635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3" name="Brand"/>
          <p:cNvSpPr txBox="1"/>
          <p:nvPr/>
        </p:nvSpPr>
        <p:spPr>
          <a:xfrm>
            <a:off x="762000" y="1016000"/>
            <a:ext cx="1054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ENGLISH LEARNING PLATFORM</a:t>
            </a:r>
            <a:endParaRPr lang="vi-VN"/>
          </a:p>
        </p:txBody>
      </p:sp>
      <p:sp>
        <p:nvSpPr>
          <p:cNvPr id="4" name="Title"/>
          <p:cNvSpPr txBox="1"/>
          <p:nvPr/>
        </p:nvSpPr>
        <p:spPr>
          <a:xfrm>
            <a:off x="762000" y="1651000"/>
            <a:ext cx="10668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32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Thanh toán sandbox</a:t>
            </a:r>
            <a:endParaRPr lang="vi-VN"/>
          </a:p>
        </p:txBody>
      </p:sp>
      <p:sp>
        <p:nvSpPr>
          <p:cNvPr id="5" name="BulletAccent"/>
          <p:cNvSpPr txBox="1"/>
          <p:nvPr/>
        </p:nvSpPr>
        <p:spPr>
          <a:xfrm>
            <a:off x="787400" y="30607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6" name="Bullet"/>
          <p:cNvSpPr txBox="1"/>
          <p:nvPr/>
        </p:nvSpPr>
        <p:spPr>
          <a:xfrm>
            <a:off x="1092200" y="29591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Server chốt Order, amount và provider</a:t>
            </a:r>
            <a:endParaRPr lang="vi-VN"/>
          </a:p>
        </p:txBody>
      </p:sp>
      <p:sp>
        <p:nvSpPr>
          <p:cNvPr id="7" name="BulletAccent"/>
          <p:cNvSpPr txBox="1"/>
          <p:nvPr/>
        </p:nvSpPr>
        <p:spPr>
          <a:xfrm>
            <a:off x="787400" y="37211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8" name="Bullet"/>
          <p:cNvSpPr txBox="1"/>
          <p:nvPr/>
        </p:nvSpPr>
        <p:spPr>
          <a:xfrm>
            <a:off x="1092200" y="36195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Hosted callback xác minh HMAC raw bytes</a:t>
            </a:r>
            <a:endParaRPr lang="vi-VN"/>
          </a:p>
        </p:txBody>
      </p:sp>
      <p:sp>
        <p:nvSpPr>
          <p:cNvPr id="9" name="BulletAccent"/>
          <p:cNvSpPr txBox="1"/>
          <p:nvPr/>
        </p:nvSpPr>
        <p:spPr>
          <a:xfrm>
            <a:off x="787400" y="43815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10" name="Bullet"/>
          <p:cNvSpPr txBox="1"/>
          <p:nvPr/>
        </p:nvSpPr>
        <p:spPr>
          <a:xfrm>
            <a:off x="1092200" y="42799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Receipt hợp lệ mới cấp Enrollment</a:t>
            </a:r>
            <a:endParaRPr lang="vi-VN"/>
          </a:p>
        </p:txBody>
      </p:sp>
      <p:sp>
        <p:nvSpPr>
          <p:cNvPr id="11" name="BulletAccent"/>
          <p:cNvSpPr txBox="1"/>
          <p:nvPr/>
        </p:nvSpPr>
        <p:spPr>
          <a:xfrm>
            <a:off x="787400" y="50419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12" name="Bullet"/>
          <p:cNvSpPr txBox="1"/>
          <p:nvPr/>
        </p:nvSpPr>
        <p:spPr>
          <a:xfrm>
            <a:off x="1092200" y="49403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Replay không tạo giao dịch/ghi danh trùng</a:t>
            </a:r>
            <a:endParaRPr lang="vi-VN"/>
          </a:p>
        </p:txBody>
      </p:sp>
      <p:sp>
        <p:nvSpPr>
          <p:cNvPr id="20" name="Footer"/>
          <p:cNvSpPr txBox="1"/>
          <p:nvPr/>
        </p:nvSpPr>
        <p:spPr>
          <a:xfrm>
            <a:off x="762000" y="6350000"/>
            <a:ext cx="9855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9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.NET  /  LẬP TRÌNH HIỆN ĐẠI  /  QUẢN LÝ DỰ ÁN</a:t>
            </a:r>
            <a:endParaRPr lang="vi-VN"/>
          </a:p>
        </p:txBody>
      </p:sp>
      <p:sp>
        <p:nvSpPr>
          <p:cNvPr id="21" name="SlideNumber"/>
          <p:cNvSpPr txBox="1"/>
          <p:nvPr/>
        </p:nvSpPr>
        <p:spPr>
          <a:xfrm>
            <a:off x="10617200" y="6337300"/>
            <a:ext cx="81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39D4C3"/>
                </a:solidFill>
                <a:latin typeface="Noto Sans"/>
                <a:ea typeface="Noto Sans"/>
                <a:cs typeface="Noto Sans"/>
              </a:rPr>
              <a:t>13 / 28</a:t>
            </a:r>
            <a:endParaRPr lang="vi-V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 txBox="1"/>
          <p:nvPr/>
        </p:nvSpPr>
        <p:spPr>
          <a:xfrm>
            <a:off x="762000" y="698500"/>
            <a:ext cx="533400" cy="635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3" name="Brand"/>
          <p:cNvSpPr txBox="1"/>
          <p:nvPr/>
        </p:nvSpPr>
        <p:spPr>
          <a:xfrm>
            <a:off x="762000" y="1016000"/>
            <a:ext cx="1054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ENGLISH LEARNING PLATFORM</a:t>
            </a:r>
            <a:endParaRPr lang="vi-VN"/>
          </a:p>
        </p:txBody>
      </p:sp>
      <p:sp>
        <p:nvSpPr>
          <p:cNvPr id="4" name="Title"/>
          <p:cNvSpPr txBox="1"/>
          <p:nvPr/>
        </p:nvSpPr>
        <p:spPr>
          <a:xfrm>
            <a:off x="762000" y="1651000"/>
            <a:ext cx="10668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32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Transaction và concurrency</a:t>
            </a:r>
            <a:endParaRPr lang="vi-VN"/>
          </a:p>
        </p:txBody>
      </p:sp>
      <p:sp>
        <p:nvSpPr>
          <p:cNvPr id="5" name="BulletAccent"/>
          <p:cNvSpPr txBox="1"/>
          <p:nvPr/>
        </p:nvSpPr>
        <p:spPr>
          <a:xfrm>
            <a:off x="787400" y="30607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6" name="Bullet"/>
          <p:cNvSpPr txBox="1"/>
          <p:nvPr/>
        </p:nvSpPr>
        <p:spPr>
          <a:xfrm>
            <a:off x="1092200" y="29591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Serializable cùng thứ tự khóa nhất quán</a:t>
            </a:r>
            <a:endParaRPr lang="vi-VN"/>
          </a:p>
        </p:txBody>
      </p:sp>
      <p:sp>
        <p:nvSpPr>
          <p:cNvPr id="7" name="BulletAccent"/>
          <p:cNvSpPr txBox="1"/>
          <p:nvPr/>
        </p:nvSpPr>
        <p:spPr>
          <a:xfrm>
            <a:off x="787400" y="37211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8" name="Bullet"/>
          <p:cNvSpPr txBox="1"/>
          <p:nvPr/>
        </p:nvSpPr>
        <p:spPr>
          <a:xfrm>
            <a:off x="1092200" y="36195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Unique index là hàng rào database</a:t>
            </a:r>
            <a:endParaRPr lang="vi-VN"/>
          </a:p>
        </p:txBody>
      </p:sp>
      <p:sp>
        <p:nvSpPr>
          <p:cNvPr id="9" name="BulletAccent"/>
          <p:cNvSpPr txBox="1"/>
          <p:nvPr/>
        </p:nvSpPr>
        <p:spPr>
          <a:xfrm>
            <a:off x="787400" y="43815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10" name="Bullet"/>
          <p:cNvSpPr txBox="1"/>
          <p:nvPr/>
        </p:nvSpPr>
        <p:spPr>
          <a:xfrm>
            <a:off x="1092200" y="42799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Grade, skills, completion commit cùng nhau</a:t>
            </a:r>
            <a:endParaRPr lang="vi-VN"/>
          </a:p>
        </p:txBody>
      </p:sp>
      <p:sp>
        <p:nvSpPr>
          <p:cNvPr id="11" name="BulletAccent"/>
          <p:cNvSpPr txBox="1"/>
          <p:nvPr/>
        </p:nvSpPr>
        <p:spPr>
          <a:xfrm>
            <a:off x="787400" y="50419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12" name="Bullet"/>
          <p:cNvSpPr txBox="1"/>
          <p:nvPr/>
        </p:nvSpPr>
        <p:spPr>
          <a:xfrm>
            <a:off x="1092200" y="49403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Lỗi thì rollback; replay giữ lịch sử</a:t>
            </a:r>
            <a:endParaRPr lang="vi-VN"/>
          </a:p>
        </p:txBody>
      </p:sp>
      <p:sp>
        <p:nvSpPr>
          <p:cNvPr id="20" name="Footer"/>
          <p:cNvSpPr txBox="1"/>
          <p:nvPr/>
        </p:nvSpPr>
        <p:spPr>
          <a:xfrm>
            <a:off x="762000" y="6350000"/>
            <a:ext cx="9855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9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.NET  /  LẬP TRÌNH HIỆN ĐẠI  /  QUẢN LÝ DỰ ÁN</a:t>
            </a:r>
            <a:endParaRPr lang="vi-VN"/>
          </a:p>
        </p:txBody>
      </p:sp>
      <p:sp>
        <p:nvSpPr>
          <p:cNvPr id="21" name="SlideNumber"/>
          <p:cNvSpPr txBox="1"/>
          <p:nvPr/>
        </p:nvSpPr>
        <p:spPr>
          <a:xfrm>
            <a:off x="10617200" y="6337300"/>
            <a:ext cx="81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39D4C3"/>
                </a:solidFill>
                <a:latin typeface="Noto Sans"/>
                <a:ea typeface="Noto Sans"/>
                <a:cs typeface="Noto Sans"/>
              </a:rPr>
              <a:t>14 / 28</a:t>
            </a:r>
            <a:endParaRPr lang="vi-V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 txBox="1"/>
          <p:nvPr/>
        </p:nvSpPr>
        <p:spPr>
          <a:xfrm>
            <a:off x="762000" y="698500"/>
            <a:ext cx="533400" cy="635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3" name="Brand"/>
          <p:cNvSpPr txBox="1"/>
          <p:nvPr/>
        </p:nvSpPr>
        <p:spPr>
          <a:xfrm>
            <a:off x="762000" y="1016000"/>
            <a:ext cx="1054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ENGLISH LEARNING PLATFORM</a:t>
            </a:r>
            <a:endParaRPr lang="vi-VN"/>
          </a:p>
        </p:txBody>
      </p:sp>
      <p:sp>
        <p:nvSpPr>
          <p:cNvPr id="4" name="Title"/>
          <p:cNvSpPr txBox="1"/>
          <p:nvPr/>
        </p:nvSpPr>
        <p:spPr>
          <a:xfrm>
            <a:off x="762000" y="1651000"/>
            <a:ext cx="10668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32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Quy tắc hoàn thành khóa</a:t>
            </a:r>
            <a:endParaRPr lang="vi-VN"/>
          </a:p>
        </p:txBody>
      </p:sp>
      <p:sp>
        <p:nvSpPr>
          <p:cNvPr id="5" name="BulletAccent"/>
          <p:cNvSpPr txBox="1"/>
          <p:nvPr/>
        </p:nvSpPr>
        <p:spPr>
          <a:xfrm>
            <a:off x="787400" y="30607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6" name="Bullet"/>
          <p:cNvSpPr txBox="1"/>
          <p:nvPr/>
        </p:nvSpPr>
        <p:spPr>
          <a:xfrm>
            <a:off x="1092200" y="29591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Có ít nhất một bài học khả dụng</a:t>
            </a:r>
            <a:endParaRPr lang="vi-VN"/>
          </a:p>
        </p:txBody>
      </p:sp>
      <p:sp>
        <p:nvSpPr>
          <p:cNvPr id="7" name="BulletAccent"/>
          <p:cNvSpPr txBox="1"/>
          <p:nvPr/>
        </p:nvSpPr>
        <p:spPr>
          <a:xfrm>
            <a:off x="787400" y="37211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8" name="Bullet"/>
          <p:cNvSpPr txBox="1"/>
          <p:nvPr/>
        </p:nvSpPr>
        <p:spPr>
          <a:xfrm>
            <a:off x="1092200" y="36195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Mọi bài khả dụng đã Completed</a:t>
            </a:r>
            <a:endParaRPr lang="vi-VN"/>
          </a:p>
        </p:txBody>
      </p:sp>
      <p:sp>
        <p:nvSpPr>
          <p:cNvPr id="9" name="BulletAccent"/>
          <p:cNvSpPr txBox="1"/>
          <p:nvPr/>
        </p:nvSpPr>
        <p:spPr>
          <a:xfrm>
            <a:off x="787400" y="43815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10" name="Bullet"/>
          <p:cNvSpPr txBox="1"/>
          <p:nvPr/>
        </p:nvSpPr>
        <p:spPr>
          <a:xfrm>
            <a:off x="1092200" y="42799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Nếu có Final: graded và raw score đạt</a:t>
            </a:r>
            <a:endParaRPr lang="vi-VN"/>
          </a:p>
        </p:txBody>
      </p:sp>
      <p:sp>
        <p:nvSpPr>
          <p:cNvPr id="11" name="BulletAccent"/>
          <p:cNvSpPr txBox="1"/>
          <p:nvPr/>
        </p:nvSpPr>
        <p:spPr>
          <a:xfrm>
            <a:off x="787400" y="50419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12" name="Bullet"/>
          <p:cNvSpPr txBox="1"/>
          <p:nvPr/>
        </p:nvSpPr>
        <p:spPr>
          <a:xfrm>
            <a:off x="1092200" y="49403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CompletedAtUtc ghi lần đầu và được giữ</a:t>
            </a:r>
            <a:endParaRPr lang="vi-VN"/>
          </a:p>
        </p:txBody>
      </p:sp>
      <p:sp>
        <p:nvSpPr>
          <p:cNvPr id="20" name="Footer"/>
          <p:cNvSpPr txBox="1"/>
          <p:nvPr/>
        </p:nvSpPr>
        <p:spPr>
          <a:xfrm>
            <a:off x="762000" y="6350000"/>
            <a:ext cx="9855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9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.NET  /  LẬP TRÌNH HIỆN ĐẠI  /  QUẢN LÝ DỰ ÁN</a:t>
            </a:r>
            <a:endParaRPr lang="vi-VN"/>
          </a:p>
        </p:txBody>
      </p:sp>
      <p:sp>
        <p:nvSpPr>
          <p:cNvPr id="21" name="SlideNumber"/>
          <p:cNvSpPr txBox="1"/>
          <p:nvPr/>
        </p:nvSpPr>
        <p:spPr>
          <a:xfrm>
            <a:off x="10617200" y="6337300"/>
            <a:ext cx="81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39D4C3"/>
                </a:solidFill>
                <a:latin typeface="Noto Sans"/>
                <a:ea typeface="Noto Sans"/>
                <a:cs typeface="Noto Sans"/>
              </a:rPr>
              <a:t>15 / 28</a:t>
            </a:r>
            <a:endParaRPr lang="vi-V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 txBox="1"/>
          <p:nvPr/>
        </p:nvSpPr>
        <p:spPr>
          <a:xfrm>
            <a:off x="762000" y="698500"/>
            <a:ext cx="533400" cy="635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3" name="Brand"/>
          <p:cNvSpPr txBox="1"/>
          <p:nvPr/>
        </p:nvSpPr>
        <p:spPr>
          <a:xfrm>
            <a:off x="762000" y="1016000"/>
            <a:ext cx="1054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ENGLISH LEARNING PLATFORM</a:t>
            </a:r>
            <a:endParaRPr lang="vi-VN"/>
          </a:p>
        </p:txBody>
      </p:sp>
      <p:sp>
        <p:nvSpPr>
          <p:cNvPr id="4" name="Title"/>
          <p:cNvSpPr txBox="1"/>
          <p:nvPr/>
        </p:nvSpPr>
        <p:spPr>
          <a:xfrm>
            <a:off x="762000" y="1651000"/>
            <a:ext cx="10668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32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Điểm tổng và kỹ năng</a:t>
            </a:r>
            <a:endParaRPr lang="vi-VN"/>
          </a:p>
        </p:txBody>
      </p:sp>
      <p:sp>
        <p:nvSpPr>
          <p:cNvPr id="5" name="BulletAccent"/>
          <p:cNvSpPr txBox="1"/>
          <p:nvPr/>
        </p:nvSpPr>
        <p:spPr>
          <a:xfrm>
            <a:off x="787400" y="30607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6" name="Bullet"/>
          <p:cNvSpPr txBox="1"/>
          <p:nvPr/>
        </p:nvSpPr>
        <p:spPr>
          <a:xfrm>
            <a:off x="1092200" y="29591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Tổng điểm theo trọng số Points</a:t>
            </a:r>
            <a:endParaRPr lang="vi-VN"/>
          </a:p>
        </p:txBody>
      </p:sp>
      <p:sp>
        <p:nvSpPr>
          <p:cNvPr id="7" name="BulletAccent"/>
          <p:cNvSpPr txBox="1"/>
          <p:nvPr/>
        </p:nvSpPr>
        <p:spPr>
          <a:xfrm>
            <a:off x="787400" y="37211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8" name="Bullet"/>
          <p:cNvSpPr txBox="1"/>
          <p:nvPr/>
        </p:nvSpPr>
        <p:spPr>
          <a:xfrm>
            <a:off x="1092200" y="36195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Passed so với điểm thô trước làm tròn</a:t>
            </a:r>
            <a:endParaRPr lang="vi-VN"/>
          </a:p>
        </p:txBody>
      </p:sp>
      <p:sp>
        <p:nvSpPr>
          <p:cNvPr id="9" name="BulletAccent"/>
          <p:cNvSpPr txBox="1"/>
          <p:nvPr/>
        </p:nvSpPr>
        <p:spPr>
          <a:xfrm>
            <a:off x="787400" y="43815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10" name="Bullet"/>
          <p:cNvSpPr txBox="1"/>
          <p:nvPr/>
        </p:nvSpPr>
        <p:spPr>
          <a:xfrm>
            <a:off x="1092200" y="42799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Breakdown theo PrimarySkill</a:t>
            </a:r>
            <a:endParaRPr lang="vi-VN"/>
          </a:p>
        </p:txBody>
      </p:sp>
      <p:sp>
        <p:nvSpPr>
          <p:cNvPr id="11" name="BulletAccent"/>
          <p:cNvSpPr txBox="1"/>
          <p:nvPr/>
        </p:nvSpPr>
        <p:spPr>
          <a:xfrm>
            <a:off x="787400" y="50419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12" name="Bullet"/>
          <p:cNvSpPr txBox="1"/>
          <p:nvPr/>
        </p:nvSpPr>
        <p:spPr>
          <a:xfrm>
            <a:off x="1092200" y="49403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Assessment không hiện đáp án từng câu</a:t>
            </a:r>
            <a:endParaRPr lang="vi-VN"/>
          </a:p>
        </p:txBody>
      </p:sp>
      <p:sp>
        <p:nvSpPr>
          <p:cNvPr id="20" name="Footer"/>
          <p:cNvSpPr txBox="1"/>
          <p:nvPr/>
        </p:nvSpPr>
        <p:spPr>
          <a:xfrm>
            <a:off x="762000" y="6350000"/>
            <a:ext cx="9855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9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.NET  /  LẬP TRÌNH HIỆN ĐẠI  /  QUẢN LÝ DỰ ÁN</a:t>
            </a:r>
            <a:endParaRPr lang="vi-VN"/>
          </a:p>
        </p:txBody>
      </p:sp>
      <p:sp>
        <p:nvSpPr>
          <p:cNvPr id="21" name="SlideNumber"/>
          <p:cNvSpPr txBox="1"/>
          <p:nvPr/>
        </p:nvSpPr>
        <p:spPr>
          <a:xfrm>
            <a:off x="10617200" y="6337300"/>
            <a:ext cx="81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39D4C3"/>
                </a:solidFill>
                <a:latin typeface="Noto Sans"/>
                <a:ea typeface="Noto Sans"/>
                <a:cs typeface="Noto Sans"/>
              </a:rPr>
              <a:t>16 / 28</a:t>
            </a:r>
            <a:endParaRPr lang="vi-V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 txBox="1"/>
          <p:nvPr/>
        </p:nvSpPr>
        <p:spPr>
          <a:xfrm>
            <a:off x="762000" y="698500"/>
            <a:ext cx="533400" cy="635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3" name="Brand"/>
          <p:cNvSpPr txBox="1"/>
          <p:nvPr/>
        </p:nvSpPr>
        <p:spPr>
          <a:xfrm>
            <a:off x="762000" y="1016000"/>
            <a:ext cx="1054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ENGLISH LEARNING PLATFORM</a:t>
            </a:r>
            <a:endParaRPr lang="vi-VN"/>
          </a:p>
        </p:txBody>
      </p:sp>
      <p:sp>
        <p:nvSpPr>
          <p:cNvPr id="4" name="Title"/>
          <p:cNvSpPr txBox="1"/>
          <p:nvPr/>
        </p:nvSpPr>
        <p:spPr>
          <a:xfrm>
            <a:off x="762000" y="1651000"/>
            <a:ext cx="10668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32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Deadline và lưu đáp án</a:t>
            </a:r>
            <a:endParaRPr lang="vi-VN"/>
          </a:p>
        </p:txBody>
      </p:sp>
      <p:sp>
        <p:nvSpPr>
          <p:cNvPr id="5" name="BulletAccent"/>
          <p:cNvSpPr txBox="1"/>
          <p:nvPr/>
        </p:nvSpPr>
        <p:spPr>
          <a:xfrm>
            <a:off x="787400" y="30607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6" name="Bullet"/>
          <p:cNvSpPr txBox="1"/>
          <p:nvPr/>
        </p:nvSpPr>
        <p:spPr>
          <a:xfrm>
            <a:off x="1092200" y="29591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Start/Resume tối đa một Attempt active</a:t>
            </a:r>
            <a:endParaRPr lang="vi-VN"/>
          </a:p>
        </p:txBody>
      </p:sp>
      <p:sp>
        <p:nvSpPr>
          <p:cNvPr id="7" name="BulletAccent"/>
          <p:cNvSpPr txBox="1"/>
          <p:nvPr/>
        </p:nvSpPr>
        <p:spPr>
          <a:xfrm>
            <a:off x="787400" y="37211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8" name="Bullet"/>
          <p:cNvSpPr txBox="1"/>
          <p:nvPr/>
        </p:nvSpPr>
        <p:spPr>
          <a:xfrm>
            <a:off x="1092200" y="36195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Autosave và lưu thủ công</a:t>
            </a:r>
            <a:endParaRPr lang="vi-VN"/>
          </a:p>
        </p:txBody>
      </p:sp>
      <p:sp>
        <p:nvSpPr>
          <p:cNvPr id="9" name="BulletAccent"/>
          <p:cNvSpPr txBox="1"/>
          <p:nvPr/>
        </p:nvSpPr>
        <p:spPr>
          <a:xfrm>
            <a:off x="787400" y="43815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10" name="Bullet"/>
          <p:cNvSpPr txBox="1"/>
          <p:nvPr/>
        </p:nvSpPr>
        <p:spPr>
          <a:xfrm>
            <a:off x="1092200" y="42799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Deadline UTC do server quyết định</a:t>
            </a:r>
            <a:endParaRPr lang="vi-VN"/>
          </a:p>
        </p:txBody>
      </p:sp>
      <p:sp>
        <p:nvSpPr>
          <p:cNvPr id="11" name="BulletAccent"/>
          <p:cNvSpPr txBox="1"/>
          <p:nvPr/>
        </p:nvSpPr>
        <p:spPr>
          <a:xfrm>
            <a:off x="787400" y="50419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12" name="Bullet"/>
          <p:cNvSpPr txBox="1"/>
          <p:nvPr/>
        </p:nvSpPr>
        <p:spPr>
          <a:xfrm>
            <a:off x="1092200" y="49403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Submit hoặc hết hạn chấm một lần</a:t>
            </a:r>
            <a:endParaRPr lang="vi-VN"/>
          </a:p>
        </p:txBody>
      </p:sp>
      <p:sp>
        <p:nvSpPr>
          <p:cNvPr id="20" name="Footer"/>
          <p:cNvSpPr txBox="1"/>
          <p:nvPr/>
        </p:nvSpPr>
        <p:spPr>
          <a:xfrm>
            <a:off x="762000" y="6350000"/>
            <a:ext cx="9855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9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.NET  /  LẬP TRÌNH HIỆN ĐẠI  /  QUẢN LÝ DỰ ÁN</a:t>
            </a:r>
            <a:endParaRPr lang="vi-VN"/>
          </a:p>
        </p:txBody>
      </p:sp>
      <p:sp>
        <p:nvSpPr>
          <p:cNvPr id="21" name="SlideNumber"/>
          <p:cNvSpPr txBox="1"/>
          <p:nvPr/>
        </p:nvSpPr>
        <p:spPr>
          <a:xfrm>
            <a:off x="10617200" y="6337300"/>
            <a:ext cx="81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39D4C3"/>
                </a:solidFill>
                <a:latin typeface="Noto Sans"/>
                <a:ea typeface="Noto Sans"/>
                <a:cs typeface="Noto Sans"/>
              </a:rPr>
              <a:t>17 / 28</a:t>
            </a:r>
            <a:endParaRPr lang="vi-V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 txBox="1"/>
          <p:nvPr/>
        </p:nvSpPr>
        <p:spPr>
          <a:xfrm>
            <a:off x="762000" y="698500"/>
            <a:ext cx="533400" cy="635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3" name="Brand"/>
          <p:cNvSpPr txBox="1"/>
          <p:nvPr/>
        </p:nvSpPr>
        <p:spPr>
          <a:xfrm>
            <a:off x="762000" y="1016000"/>
            <a:ext cx="1054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ENGLISH LEARNING PLATFORM</a:t>
            </a:r>
            <a:endParaRPr lang="vi-VN"/>
          </a:p>
        </p:txBody>
      </p:sp>
      <p:sp>
        <p:nvSpPr>
          <p:cNvPr id="4" name="Title"/>
          <p:cNvSpPr txBox="1"/>
          <p:nvPr/>
        </p:nvSpPr>
        <p:spPr>
          <a:xfrm>
            <a:off x="762000" y="1651000"/>
            <a:ext cx="10668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32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Demo Guest và Teacher</a:t>
            </a:r>
            <a:endParaRPr lang="vi-VN"/>
          </a:p>
        </p:txBody>
      </p:sp>
      <p:sp>
        <p:nvSpPr>
          <p:cNvPr id="5" name="BulletAccent"/>
          <p:cNvSpPr txBox="1"/>
          <p:nvPr/>
        </p:nvSpPr>
        <p:spPr>
          <a:xfrm>
            <a:off x="787400" y="30607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6" name="Bullet"/>
          <p:cNvSpPr txBox="1"/>
          <p:nvPr/>
        </p:nvSpPr>
        <p:spPr>
          <a:xfrm>
            <a:off x="1092200" y="29591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Guest xem catalog, detail và giá</a:t>
            </a:r>
            <a:endParaRPr lang="vi-VN"/>
          </a:p>
        </p:txBody>
      </p:sp>
      <p:sp>
        <p:nvSpPr>
          <p:cNvPr id="7" name="BulletAccent"/>
          <p:cNvSpPr txBox="1"/>
          <p:nvPr/>
        </p:nvSpPr>
        <p:spPr>
          <a:xfrm>
            <a:off x="787400" y="37211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8" name="Bullet"/>
          <p:cNvSpPr txBox="1"/>
          <p:nvPr/>
        </p:nvSpPr>
        <p:spPr>
          <a:xfrm>
            <a:off x="1092200" y="36195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Protected Lesson chuyển sang Login</a:t>
            </a:r>
            <a:endParaRPr lang="vi-VN"/>
          </a:p>
        </p:txBody>
      </p:sp>
      <p:sp>
        <p:nvSpPr>
          <p:cNvPr id="9" name="BulletAccent"/>
          <p:cNvSpPr txBox="1"/>
          <p:nvPr/>
        </p:nvSpPr>
        <p:spPr>
          <a:xfrm>
            <a:off x="787400" y="43815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10" name="Bullet"/>
          <p:cNvSpPr txBox="1"/>
          <p:nvPr/>
        </p:nvSpPr>
        <p:spPr>
          <a:xfrm>
            <a:off x="1092200" y="42799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Teacher xem khóa của mình và preview</a:t>
            </a:r>
            <a:endParaRPr lang="vi-VN"/>
          </a:p>
        </p:txBody>
      </p:sp>
      <p:sp>
        <p:nvSpPr>
          <p:cNvPr id="11" name="BulletAccent"/>
          <p:cNvSpPr txBox="1"/>
          <p:nvPr/>
        </p:nvSpPr>
        <p:spPr>
          <a:xfrm>
            <a:off x="787400" y="50419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12" name="Bullet"/>
          <p:cNvSpPr txBox="1"/>
          <p:nvPr/>
        </p:nvSpPr>
        <p:spPr>
          <a:xfrm>
            <a:off x="1092200" y="49403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Teacher khác bị từ chối resource</a:t>
            </a:r>
            <a:endParaRPr lang="vi-VN"/>
          </a:p>
        </p:txBody>
      </p:sp>
      <p:sp>
        <p:nvSpPr>
          <p:cNvPr id="20" name="Footer"/>
          <p:cNvSpPr txBox="1"/>
          <p:nvPr/>
        </p:nvSpPr>
        <p:spPr>
          <a:xfrm>
            <a:off x="762000" y="6350000"/>
            <a:ext cx="9855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9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.NET  /  LẬP TRÌNH HIỆN ĐẠI  /  QUẢN LÝ DỰ ÁN</a:t>
            </a:r>
            <a:endParaRPr lang="vi-VN"/>
          </a:p>
        </p:txBody>
      </p:sp>
      <p:sp>
        <p:nvSpPr>
          <p:cNvPr id="21" name="SlideNumber"/>
          <p:cNvSpPr txBox="1"/>
          <p:nvPr/>
        </p:nvSpPr>
        <p:spPr>
          <a:xfrm>
            <a:off x="10617200" y="6337300"/>
            <a:ext cx="81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39D4C3"/>
                </a:solidFill>
                <a:latin typeface="Noto Sans"/>
                <a:ea typeface="Noto Sans"/>
                <a:cs typeface="Noto Sans"/>
              </a:rPr>
              <a:t>18 / 28</a:t>
            </a:r>
            <a:endParaRPr lang="vi-V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 txBox="1"/>
          <p:nvPr/>
        </p:nvSpPr>
        <p:spPr>
          <a:xfrm>
            <a:off x="762000" y="698500"/>
            <a:ext cx="533400" cy="635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3" name="Brand"/>
          <p:cNvSpPr txBox="1"/>
          <p:nvPr/>
        </p:nvSpPr>
        <p:spPr>
          <a:xfrm>
            <a:off x="762000" y="1016000"/>
            <a:ext cx="1054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ENGLISH LEARNING PLATFORM</a:t>
            </a:r>
            <a:endParaRPr lang="vi-VN"/>
          </a:p>
        </p:txBody>
      </p:sp>
      <p:sp>
        <p:nvSpPr>
          <p:cNvPr id="4" name="Title"/>
          <p:cNvSpPr txBox="1"/>
          <p:nvPr/>
        </p:nvSpPr>
        <p:spPr>
          <a:xfrm>
            <a:off x="762000" y="1651000"/>
            <a:ext cx="10668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32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Demo Student thanh toán</a:t>
            </a:r>
            <a:endParaRPr lang="vi-VN"/>
          </a:p>
        </p:txBody>
      </p:sp>
      <p:sp>
        <p:nvSpPr>
          <p:cNvPr id="5" name="BulletAccent"/>
          <p:cNvSpPr txBox="1"/>
          <p:nvPr/>
        </p:nvSpPr>
        <p:spPr>
          <a:xfrm>
            <a:off x="787400" y="30607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6" name="Bullet"/>
          <p:cNvSpPr txBox="1"/>
          <p:nvPr/>
        </p:nvSpPr>
        <p:spPr>
          <a:xfrm>
            <a:off x="1092200" y="29591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Student 2 chọn Business English</a:t>
            </a:r>
            <a:endParaRPr lang="vi-VN"/>
          </a:p>
        </p:txBody>
      </p:sp>
      <p:sp>
        <p:nvSpPr>
          <p:cNvPr id="7" name="BulletAccent"/>
          <p:cNvSpPr txBox="1"/>
          <p:nvPr/>
        </p:nvSpPr>
        <p:spPr>
          <a:xfrm>
            <a:off x="787400" y="37211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8" name="Bullet"/>
          <p:cNvSpPr txBox="1"/>
          <p:nvPr/>
        </p:nvSpPr>
        <p:spPr>
          <a:xfrm>
            <a:off x="1092200" y="36195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Tạo Order 199.000 VND và sandbox success</a:t>
            </a:r>
            <a:endParaRPr lang="vi-VN"/>
          </a:p>
        </p:txBody>
      </p:sp>
      <p:sp>
        <p:nvSpPr>
          <p:cNvPr id="9" name="BulletAccent"/>
          <p:cNvSpPr txBox="1"/>
          <p:nvPr/>
        </p:nvSpPr>
        <p:spPr>
          <a:xfrm>
            <a:off x="787400" y="43815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10" name="Bullet"/>
          <p:cNvSpPr txBox="1"/>
          <p:nvPr/>
        </p:nvSpPr>
        <p:spPr>
          <a:xfrm>
            <a:off x="1092200" y="42799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Trang kết quả → Khóa học của tôi</a:t>
            </a:r>
            <a:endParaRPr lang="vi-VN"/>
          </a:p>
        </p:txBody>
      </p:sp>
      <p:sp>
        <p:nvSpPr>
          <p:cNvPr id="11" name="BulletAccent"/>
          <p:cNvSpPr txBox="1"/>
          <p:nvPr/>
        </p:nvSpPr>
        <p:spPr>
          <a:xfrm>
            <a:off x="787400" y="50419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12" name="Bullet"/>
          <p:cNvSpPr txBox="1"/>
          <p:nvPr/>
        </p:nvSpPr>
        <p:spPr>
          <a:xfrm>
            <a:off x="1092200" y="49403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Refresh giữ một Enrollment</a:t>
            </a:r>
            <a:endParaRPr lang="vi-VN"/>
          </a:p>
        </p:txBody>
      </p:sp>
      <p:sp>
        <p:nvSpPr>
          <p:cNvPr id="20" name="Footer"/>
          <p:cNvSpPr txBox="1"/>
          <p:nvPr/>
        </p:nvSpPr>
        <p:spPr>
          <a:xfrm>
            <a:off x="762000" y="6350000"/>
            <a:ext cx="9855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9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.NET  /  LẬP TRÌNH HIỆN ĐẠI  /  QUẢN LÝ DỰ ÁN</a:t>
            </a:r>
            <a:endParaRPr lang="vi-VN"/>
          </a:p>
        </p:txBody>
      </p:sp>
      <p:sp>
        <p:nvSpPr>
          <p:cNvPr id="21" name="SlideNumber"/>
          <p:cNvSpPr txBox="1"/>
          <p:nvPr/>
        </p:nvSpPr>
        <p:spPr>
          <a:xfrm>
            <a:off x="10617200" y="6337300"/>
            <a:ext cx="81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39D4C3"/>
                </a:solidFill>
                <a:latin typeface="Noto Sans"/>
                <a:ea typeface="Noto Sans"/>
                <a:cs typeface="Noto Sans"/>
              </a:rPr>
              <a:t>19 / 28</a:t>
            </a:r>
            <a:endParaRPr lang="vi-V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 txBox="1"/>
          <p:nvPr/>
        </p:nvSpPr>
        <p:spPr>
          <a:xfrm>
            <a:off x="762000" y="698500"/>
            <a:ext cx="533400" cy="635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3" name="Brand"/>
          <p:cNvSpPr txBox="1"/>
          <p:nvPr/>
        </p:nvSpPr>
        <p:spPr>
          <a:xfrm>
            <a:off x="762000" y="1016000"/>
            <a:ext cx="1054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ENGLISH LEARNING PLATFORM</a:t>
            </a:r>
            <a:endParaRPr lang="vi-VN"/>
          </a:p>
        </p:txBody>
      </p:sp>
      <p:sp>
        <p:nvSpPr>
          <p:cNvPr id="4" name="Title"/>
          <p:cNvSpPr txBox="1"/>
          <p:nvPr/>
        </p:nvSpPr>
        <p:spPr>
          <a:xfrm>
            <a:off x="762000" y="1651000"/>
            <a:ext cx="10668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32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Demo Student thi Final</a:t>
            </a:r>
            <a:endParaRPr lang="vi-VN"/>
          </a:p>
        </p:txBody>
      </p:sp>
      <p:sp>
        <p:nvSpPr>
          <p:cNvPr id="5" name="BulletAccent"/>
          <p:cNvSpPr txBox="1"/>
          <p:nvPr/>
        </p:nvSpPr>
        <p:spPr>
          <a:xfrm>
            <a:off x="787400" y="30607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6" name="Bullet"/>
          <p:cNvSpPr txBox="1"/>
          <p:nvPr/>
        </p:nvSpPr>
        <p:spPr>
          <a:xfrm>
            <a:off x="1092200" y="29591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Student 1 hoàn thành bài Everyday English</a:t>
            </a:r>
            <a:endParaRPr lang="vi-VN"/>
          </a:p>
        </p:txBody>
      </p:sp>
      <p:sp>
        <p:nvSpPr>
          <p:cNvPr id="7" name="BulletAccent"/>
          <p:cNvSpPr txBox="1"/>
          <p:nvPr/>
        </p:nvSpPr>
        <p:spPr>
          <a:xfrm>
            <a:off x="787400" y="37211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8" name="Bullet"/>
          <p:cNvSpPr txBox="1"/>
          <p:nvPr/>
        </p:nvSpPr>
        <p:spPr>
          <a:xfrm>
            <a:off x="1092200" y="36195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Final: 15 phút, 3 lượt, 5 câu</a:t>
            </a:r>
            <a:endParaRPr lang="vi-VN"/>
          </a:p>
        </p:txBody>
      </p:sp>
      <p:sp>
        <p:nvSpPr>
          <p:cNvPr id="9" name="BulletAccent"/>
          <p:cNvSpPr txBox="1"/>
          <p:nvPr/>
        </p:nvSpPr>
        <p:spPr>
          <a:xfrm>
            <a:off x="787400" y="43815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10" name="Bullet"/>
          <p:cNvSpPr txBox="1"/>
          <p:nvPr/>
        </p:nvSpPr>
        <p:spPr>
          <a:xfrm>
            <a:off x="1092200" y="42799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Đúng ít nhất 4/5 đạt ngưỡng 80%</a:t>
            </a:r>
            <a:endParaRPr lang="vi-VN"/>
          </a:p>
        </p:txBody>
      </p:sp>
      <p:sp>
        <p:nvSpPr>
          <p:cNvPr id="11" name="BulletAccent"/>
          <p:cNvSpPr txBox="1"/>
          <p:nvPr/>
        </p:nvSpPr>
        <p:spPr>
          <a:xfrm>
            <a:off x="787400" y="50419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12" name="Bullet"/>
          <p:cNvSpPr txBox="1"/>
          <p:nvPr/>
        </p:nvSpPr>
        <p:spPr>
          <a:xfrm>
            <a:off x="1092200" y="49403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Result và Completion badge/date</a:t>
            </a:r>
            <a:endParaRPr lang="vi-VN"/>
          </a:p>
        </p:txBody>
      </p:sp>
      <p:sp>
        <p:nvSpPr>
          <p:cNvPr id="20" name="Footer"/>
          <p:cNvSpPr txBox="1"/>
          <p:nvPr/>
        </p:nvSpPr>
        <p:spPr>
          <a:xfrm>
            <a:off x="762000" y="6350000"/>
            <a:ext cx="9855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9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.NET  /  LẬP TRÌNH HIỆN ĐẠI  /  QUẢN LÝ DỰ ÁN</a:t>
            </a:r>
            <a:endParaRPr lang="vi-VN"/>
          </a:p>
        </p:txBody>
      </p:sp>
      <p:sp>
        <p:nvSpPr>
          <p:cNvPr id="21" name="SlideNumber"/>
          <p:cNvSpPr txBox="1"/>
          <p:nvPr/>
        </p:nvSpPr>
        <p:spPr>
          <a:xfrm>
            <a:off x="10617200" y="6337300"/>
            <a:ext cx="81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39D4C3"/>
                </a:solidFill>
                <a:latin typeface="Noto Sans"/>
                <a:ea typeface="Noto Sans"/>
                <a:cs typeface="Noto Sans"/>
              </a:rPr>
              <a:t>20 / 28</a:t>
            </a:r>
            <a:endParaRPr lang="vi-V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 txBox="1"/>
          <p:nvPr/>
        </p:nvSpPr>
        <p:spPr>
          <a:xfrm>
            <a:off x="762000" y="698500"/>
            <a:ext cx="533400" cy="635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3" name="Brand"/>
          <p:cNvSpPr txBox="1"/>
          <p:nvPr/>
        </p:nvSpPr>
        <p:spPr>
          <a:xfrm>
            <a:off x="762000" y="1016000"/>
            <a:ext cx="1054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ENGLISH LEARNING PLATFORM</a:t>
            </a:r>
            <a:endParaRPr lang="vi-VN"/>
          </a:p>
        </p:txBody>
      </p:sp>
      <p:sp>
        <p:nvSpPr>
          <p:cNvPr id="4" name="Title"/>
          <p:cNvSpPr txBox="1"/>
          <p:nvPr/>
        </p:nvSpPr>
        <p:spPr>
          <a:xfrm>
            <a:off x="762000" y="1651000"/>
            <a:ext cx="10668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32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Demo Admin tra cứu</a:t>
            </a:r>
            <a:endParaRPr lang="vi-VN"/>
          </a:p>
        </p:txBody>
      </p:sp>
      <p:sp>
        <p:nvSpPr>
          <p:cNvPr id="5" name="BulletAccent"/>
          <p:cNvSpPr txBox="1"/>
          <p:nvPr/>
        </p:nvSpPr>
        <p:spPr>
          <a:xfrm>
            <a:off x="787400" y="30607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6" name="Bullet"/>
          <p:cNvSpPr txBox="1"/>
          <p:nvPr/>
        </p:nvSpPr>
        <p:spPr>
          <a:xfrm>
            <a:off x="1092200" y="29591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Giao dịch: tìm email, khóa hoặc mã đơn</a:t>
            </a:r>
            <a:endParaRPr lang="vi-VN"/>
          </a:p>
        </p:txBody>
      </p:sp>
      <p:sp>
        <p:nvSpPr>
          <p:cNvPr id="7" name="BulletAccent"/>
          <p:cNvSpPr txBox="1"/>
          <p:nvPr/>
        </p:nvSpPr>
        <p:spPr>
          <a:xfrm>
            <a:off x="787400" y="37211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8" name="Bullet"/>
          <p:cNvSpPr txBox="1"/>
          <p:nvPr/>
        </p:nvSpPr>
        <p:spPr>
          <a:xfrm>
            <a:off x="1092200" y="36195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Lọc trạng thái và phân trang</a:t>
            </a:r>
            <a:endParaRPr lang="vi-VN"/>
          </a:p>
        </p:txBody>
      </p:sp>
      <p:sp>
        <p:nvSpPr>
          <p:cNvPr id="9" name="BulletAccent"/>
          <p:cNvSpPr txBox="1"/>
          <p:nvPr/>
        </p:nvSpPr>
        <p:spPr>
          <a:xfrm>
            <a:off x="787400" y="43815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10" name="Bullet"/>
          <p:cNvSpPr txBox="1"/>
          <p:nvPr/>
        </p:nvSpPr>
        <p:spPr>
          <a:xfrm>
            <a:off x="1092200" y="42799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Người dùng: email, role và status</a:t>
            </a:r>
            <a:endParaRPr lang="vi-VN"/>
          </a:p>
        </p:txBody>
      </p:sp>
      <p:sp>
        <p:nvSpPr>
          <p:cNvPr id="11" name="BulletAccent"/>
          <p:cNvSpPr txBox="1"/>
          <p:nvPr/>
        </p:nvSpPr>
        <p:spPr>
          <a:xfrm>
            <a:off x="787400" y="50419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12" name="Bullet"/>
          <p:cNvSpPr txBox="1"/>
          <p:nvPr/>
        </p:nvSpPr>
        <p:spPr>
          <a:xfrm>
            <a:off x="1092200" y="49403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Read-only, không sửa nội dung/đáp án</a:t>
            </a:r>
            <a:endParaRPr lang="vi-VN"/>
          </a:p>
        </p:txBody>
      </p:sp>
      <p:sp>
        <p:nvSpPr>
          <p:cNvPr id="20" name="Footer"/>
          <p:cNvSpPr txBox="1"/>
          <p:nvPr/>
        </p:nvSpPr>
        <p:spPr>
          <a:xfrm>
            <a:off x="762000" y="6350000"/>
            <a:ext cx="9855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9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.NET  /  LẬP TRÌNH HIỆN ĐẠI  /  QUẢN LÝ DỰ ÁN</a:t>
            </a:r>
            <a:endParaRPr lang="vi-VN"/>
          </a:p>
        </p:txBody>
      </p:sp>
      <p:sp>
        <p:nvSpPr>
          <p:cNvPr id="21" name="SlideNumber"/>
          <p:cNvSpPr txBox="1"/>
          <p:nvPr/>
        </p:nvSpPr>
        <p:spPr>
          <a:xfrm>
            <a:off x="10617200" y="6337300"/>
            <a:ext cx="81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39D4C3"/>
                </a:solidFill>
                <a:latin typeface="Noto Sans"/>
                <a:ea typeface="Noto Sans"/>
                <a:cs typeface="Noto Sans"/>
              </a:rPr>
              <a:t>21 / 28</a:t>
            </a:r>
            <a:endParaRPr lang="vi-V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 txBox="1"/>
          <p:nvPr/>
        </p:nvSpPr>
        <p:spPr>
          <a:xfrm>
            <a:off x="762000" y="698500"/>
            <a:ext cx="533400" cy="635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3" name="Brand"/>
          <p:cNvSpPr txBox="1"/>
          <p:nvPr/>
        </p:nvSpPr>
        <p:spPr>
          <a:xfrm>
            <a:off x="762000" y="1016000"/>
            <a:ext cx="1054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ENGLISH LEARNING PLATFORM</a:t>
            </a:r>
            <a:endParaRPr lang="vi-VN"/>
          </a:p>
        </p:txBody>
      </p:sp>
      <p:sp>
        <p:nvSpPr>
          <p:cNvPr id="4" name="Title"/>
          <p:cNvSpPr txBox="1"/>
          <p:nvPr/>
        </p:nvSpPr>
        <p:spPr>
          <a:xfrm>
            <a:off x="762000" y="1651000"/>
            <a:ext cx="10668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32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Kiểm thử tự động</a:t>
            </a:r>
            <a:endParaRPr lang="vi-VN"/>
          </a:p>
        </p:txBody>
      </p:sp>
      <p:sp>
        <p:nvSpPr>
          <p:cNvPr id="5" name="BulletAccent"/>
          <p:cNvSpPr txBox="1"/>
          <p:nvPr/>
        </p:nvSpPr>
        <p:spPr>
          <a:xfrm>
            <a:off x="787400" y="30607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6" name="Bullet"/>
          <p:cNvSpPr txBox="1"/>
          <p:nvPr/>
        </p:nvSpPr>
        <p:spPr>
          <a:xfrm>
            <a:off x="1092200" y="29591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Unit cho rule, scoring và validator</a:t>
            </a:r>
            <a:endParaRPr lang="vi-VN"/>
          </a:p>
        </p:txBody>
      </p:sp>
      <p:sp>
        <p:nvSpPr>
          <p:cNvPr id="7" name="BulletAccent"/>
          <p:cNvSpPr txBox="1"/>
          <p:nvPr/>
        </p:nvSpPr>
        <p:spPr>
          <a:xfrm>
            <a:off x="787400" y="37211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8" name="Bullet"/>
          <p:cNvSpPr txBox="1"/>
          <p:nvPr/>
        </p:nvSpPr>
        <p:spPr>
          <a:xfrm>
            <a:off x="1092200" y="36195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Integration trên SQL Server thật</a:t>
            </a:r>
            <a:endParaRPr lang="vi-VN"/>
          </a:p>
        </p:txBody>
      </p:sp>
      <p:sp>
        <p:nvSpPr>
          <p:cNvPr id="9" name="BulletAccent"/>
          <p:cNvSpPr txBox="1"/>
          <p:nvPr/>
        </p:nvSpPr>
        <p:spPr>
          <a:xfrm>
            <a:off x="787400" y="43815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10" name="Bullet"/>
          <p:cNvSpPr txBox="1"/>
          <p:nvPr/>
        </p:nvSpPr>
        <p:spPr>
          <a:xfrm>
            <a:off x="1092200" y="42799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Tamper, role, replay, deadline và race</a:t>
            </a:r>
            <a:endParaRPr lang="vi-VN"/>
          </a:p>
        </p:txBody>
      </p:sp>
      <p:sp>
        <p:nvSpPr>
          <p:cNvPr id="11" name="BulletAccent"/>
          <p:cNvSpPr txBox="1"/>
          <p:nvPr/>
        </p:nvSpPr>
        <p:spPr>
          <a:xfrm>
            <a:off x="787400" y="50419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12" name="Bullet"/>
          <p:cNvSpPr txBox="1"/>
          <p:nvPr/>
        </p:nvSpPr>
        <p:spPr>
          <a:xfrm>
            <a:off x="1092200" y="49403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Tổng số lấy từ TRX candidate</a:t>
            </a:r>
            <a:endParaRPr lang="vi-VN"/>
          </a:p>
        </p:txBody>
      </p:sp>
      <p:sp>
        <p:nvSpPr>
          <p:cNvPr id="20" name="Footer"/>
          <p:cNvSpPr txBox="1"/>
          <p:nvPr/>
        </p:nvSpPr>
        <p:spPr>
          <a:xfrm>
            <a:off x="762000" y="6350000"/>
            <a:ext cx="9855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9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.NET  /  LẬP TRÌNH HIỆN ĐẠI  /  QUẢN LÝ DỰ ÁN</a:t>
            </a:r>
            <a:endParaRPr lang="vi-VN"/>
          </a:p>
        </p:txBody>
      </p:sp>
      <p:sp>
        <p:nvSpPr>
          <p:cNvPr id="21" name="SlideNumber"/>
          <p:cNvSpPr txBox="1"/>
          <p:nvPr/>
        </p:nvSpPr>
        <p:spPr>
          <a:xfrm>
            <a:off x="10617200" y="6337300"/>
            <a:ext cx="81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39D4C3"/>
                </a:solidFill>
                <a:latin typeface="Noto Sans"/>
                <a:ea typeface="Noto Sans"/>
                <a:cs typeface="Noto Sans"/>
              </a:rPr>
              <a:t>22 / 28</a:t>
            </a:r>
            <a:endParaRPr lang="vi-V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 txBox="1"/>
          <p:nvPr/>
        </p:nvSpPr>
        <p:spPr>
          <a:xfrm>
            <a:off x="762000" y="698500"/>
            <a:ext cx="533400" cy="635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3" name="Brand"/>
          <p:cNvSpPr txBox="1"/>
          <p:nvPr/>
        </p:nvSpPr>
        <p:spPr>
          <a:xfrm>
            <a:off x="762000" y="1016000"/>
            <a:ext cx="1054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ENGLISH LEARNING PLATFORM</a:t>
            </a:r>
            <a:endParaRPr lang="vi-VN"/>
          </a:p>
        </p:txBody>
      </p:sp>
      <p:sp>
        <p:nvSpPr>
          <p:cNvPr id="4" name="Title"/>
          <p:cNvSpPr txBox="1"/>
          <p:nvPr/>
        </p:nvSpPr>
        <p:spPr>
          <a:xfrm>
            <a:off x="762000" y="1651000"/>
            <a:ext cx="10668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32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CI và release gate</a:t>
            </a:r>
            <a:endParaRPr lang="vi-VN"/>
          </a:p>
        </p:txBody>
      </p:sp>
      <p:sp>
        <p:nvSpPr>
          <p:cNvPr id="5" name="BulletAccent"/>
          <p:cNvSpPr txBox="1"/>
          <p:nvPr/>
        </p:nvSpPr>
        <p:spPr>
          <a:xfrm>
            <a:off x="787400" y="30607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6" name="Bullet"/>
          <p:cNvSpPr txBox="1"/>
          <p:nvPr/>
        </p:nvSpPr>
        <p:spPr>
          <a:xfrm>
            <a:off x="1092200" y="29591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Restore → Release build → Unit → Integration</a:t>
            </a:r>
            <a:endParaRPr lang="vi-VN"/>
          </a:p>
        </p:txBody>
      </p:sp>
      <p:sp>
        <p:nvSpPr>
          <p:cNvPr id="7" name="BulletAccent"/>
          <p:cNvSpPr txBox="1"/>
          <p:nvPr/>
        </p:nvSpPr>
        <p:spPr>
          <a:xfrm>
            <a:off x="787400" y="37211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8" name="Bullet"/>
          <p:cNvSpPr txBox="1"/>
          <p:nvPr/>
        </p:nvSpPr>
        <p:spPr>
          <a:xfrm>
            <a:off x="1092200" y="36195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Candidate SHA, SDK và TRX trong artifact</a:t>
            </a:r>
            <a:endParaRPr lang="vi-VN"/>
          </a:p>
        </p:txBody>
      </p:sp>
      <p:sp>
        <p:nvSpPr>
          <p:cNvPr id="9" name="BulletAccent"/>
          <p:cNvSpPr txBox="1"/>
          <p:nvPr/>
        </p:nvSpPr>
        <p:spPr>
          <a:xfrm>
            <a:off x="787400" y="43815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10" name="Bullet"/>
          <p:cNvSpPr txBox="1"/>
          <p:nvPr/>
        </p:nvSpPr>
        <p:spPr>
          <a:xfrm>
            <a:off x="1092200" y="42799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Gate yêu cầu committed clean tree</a:t>
            </a:r>
            <a:endParaRPr lang="vi-VN"/>
          </a:p>
        </p:txBody>
      </p:sp>
      <p:sp>
        <p:nvSpPr>
          <p:cNvPr id="11" name="BulletAccent"/>
          <p:cNvSpPr txBox="1"/>
          <p:nvPr/>
        </p:nvSpPr>
        <p:spPr>
          <a:xfrm>
            <a:off x="787400" y="50419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12" name="Bullet"/>
          <p:cNvSpPr txBox="1"/>
          <p:nvPr/>
        </p:nvSpPr>
        <p:spPr>
          <a:xfrm>
            <a:off x="1092200" y="49403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Remote green run cần URL và SHA khớp</a:t>
            </a:r>
            <a:endParaRPr lang="vi-VN"/>
          </a:p>
        </p:txBody>
      </p:sp>
      <p:sp>
        <p:nvSpPr>
          <p:cNvPr id="20" name="Footer"/>
          <p:cNvSpPr txBox="1"/>
          <p:nvPr/>
        </p:nvSpPr>
        <p:spPr>
          <a:xfrm>
            <a:off x="762000" y="6350000"/>
            <a:ext cx="9855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9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.NET  /  LẬP TRÌNH HIỆN ĐẠI  /  QUẢN LÝ DỰ ÁN</a:t>
            </a:r>
            <a:endParaRPr lang="vi-VN"/>
          </a:p>
        </p:txBody>
      </p:sp>
      <p:sp>
        <p:nvSpPr>
          <p:cNvPr id="21" name="SlideNumber"/>
          <p:cNvSpPr txBox="1"/>
          <p:nvPr/>
        </p:nvSpPr>
        <p:spPr>
          <a:xfrm>
            <a:off x="10617200" y="6337300"/>
            <a:ext cx="81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39D4C3"/>
                </a:solidFill>
                <a:latin typeface="Noto Sans"/>
                <a:ea typeface="Noto Sans"/>
                <a:cs typeface="Noto Sans"/>
              </a:rPr>
              <a:t>23 / 28</a:t>
            </a:r>
            <a:endParaRPr lang="vi-V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 txBox="1"/>
          <p:nvPr/>
        </p:nvSpPr>
        <p:spPr>
          <a:xfrm>
            <a:off x="762000" y="698500"/>
            <a:ext cx="533400" cy="635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3" name="Brand"/>
          <p:cNvSpPr txBox="1"/>
          <p:nvPr/>
        </p:nvSpPr>
        <p:spPr>
          <a:xfrm>
            <a:off x="762000" y="1016000"/>
            <a:ext cx="1054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ENGLISH LEARNING PLATFORM</a:t>
            </a:r>
            <a:endParaRPr lang="vi-VN"/>
          </a:p>
        </p:txBody>
      </p:sp>
      <p:sp>
        <p:nvSpPr>
          <p:cNvPr id="4" name="Title"/>
          <p:cNvSpPr txBox="1"/>
          <p:nvPr/>
        </p:nvSpPr>
        <p:spPr>
          <a:xfrm>
            <a:off x="762000" y="1651000"/>
            <a:ext cx="10668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32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Fresh setup và vận hành</a:t>
            </a:r>
            <a:endParaRPr lang="vi-VN"/>
          </a:p>
        </p:txBody>
      </p:sp>
      <p:sp>
        <p:nvSpPr>
          <p:cNvPr id="5" name="BulletAccent"/>
          <p:cNvSpPr txBox="1"/>
          <p:nvPr/>
        </p:nvSpPr>
        <p:spPr>
          <a:xfrm>
            <a:off x="787400" y="30607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6" name="Bullet"/>
          <p:cNvSpPr txBox="1"/>
          <p:nvPr/>
        </p:nvSpPr>
        <p:spPr>
          <a:xfrm>
            <a:off x="1092200" y="29591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Database riêng → migration → model check</a:t>
            </a:r>
            <a:endParaRPr lang="vi-VN"/>
          </a:p>
        </p:txBody>
      </p:sp>
      <p:sp>
        <p:nvSpPr>
          <p:cNvPr id="7" name="BulletAccent"/>
          <p:cNvSpPr txBox="1"/>
          <p:nvPr/>
        </p:nvSpPr>
        <p:spPr>
          <a:xfrm>
            <a:off x="787400" y="37211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8" name="Bullet"/>
          <p:cNvSpPr txBox="1"/>
          <p:nvPr/>
        </p:nvSpPr>
        <p:spPr>
          <a:xfrm>
            <a:off x="1092200" y="36195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Seeder Development đủ 5 tài khoản</a:t>
            </a:r>
            <a:endParaRPr lang="vi-VN"/>
          </a:p>
        </p:txBody>
      </p:sp>
      <p:sp>
        <p:nvSpPr>
          <p:cNvPr id="9" name="BulletAccent"/>
          <p:cNvSpPr txBox="1"/>
          <p:nvPr/>
        </p:nvSpPr>
        <p:spPr>
          <a:xfrm>
            <a:off x="787400" y="43815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10" name="Bullet"/>
          <p:cNvSpPr txBox="1"/>
          <p:nvPr/>
        </p:nvSpPr>
        <p:spPr>
          <a:xfrm>
            <a:off x="1092200" y="42799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Seed lại giữ password, progress và attempt</a:t>
            </a:r>
            <a:endParaRPr lang="vi-VN"/>
          </a:p>
        </p:txBody>
      </p:sp>
      <p:sp>
        <p:nvSpPr>
          <p:cNvPr id="11" name="BulletAccent"/>
          <p:cNvSpPr txBox="1"/>
          <p:nvPr/>
        </p:nvSpPr>
        <p:spPr>
          <a:xfrm>
            <a:off x="787400" y="50419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12" name="Bullet"/>
          <p:cNvSpPr txBox="1"/>
          <p:nvPr/>
        </p:nvSpPr>
        <p:spPr>
          <a:xfrm>
            <a:off x="1092200" y="49403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Health, backup và restore drill</a:t>
            </a:r>
            <a:endParaRPr lang="vi-VN"/>
          </a:p>
        </p:txBody>
      </p:sp>
      <p:sp>
        <p:nvSpPr>
          <p:cNvPr id="20" name="Footer"/>
          <p:cNvSpPr txBox="1"/>
          <p:nvPr/>
        </p:nvSpPr>
        <p:spPr>
          <a:xfrm>
            <a:off x="762000" y="6350000"/>
            <a:ext cx="9855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9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.NET  /  LẬP TRÌNH HIỆN ĐẠI  /  QUẢN LÝ DỰ ÁN</a:t>
            </a:r>
            <a:endParaRPr lang="vi-VN"/>
          </a:p>
        </p:txBody>
      </p:sp>
      <p:sp>
        <p:nvSpPr>
          <p:cNvPr id="21" name="SlideNumber"/>
          <p:cNvSpPr txBox="1"/>
          <p:nvPr/>
        </p:nvSpPr>
        <p:spPr>
          <a:xfrm>
            <a:off x="10617200" y="6337300"/>
            <a:ext cx="81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39D4C3"/>
                </a:solidFill>
                <a:latin typeface="Noto Sans"/>
                <a:ea typeface="Noto Sans"/>
                <a:cs typeface="Noto Sans"/>
              </a:rPr>
              <a:t>24 / 28</a:t>
            </a:r>
            <a:endParaRPr lang="vi-V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 txBox="1"/>
          <p:nvPr/>
        </p:nvSpPr>
        <p:spPr>
          <a:xfrm>
            <a:off x="762000" y="698500"/>
            <a:ext cx="533400" cy="635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3" name="Brand"/>
          <p:cNvSpPr txBox="1"/>
          <p:nvPr/>
        </p:nvSpPr>
        <p:spPr>
          <a:xfrm>
            <a:off x="762000" y="1016000"/>
            <a:ext cx="1054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ENGLISH LEARNING PLATFORM</a:t>
            </a:r>
            <a:endParaRPr lang="vi-VN"/>
          </a:p>
        </p:txBody>
      </p:sp>
      <p:sp>
        <p:nvSpPr>
          <p:cNvPr id="4" name="Title"/>
          <p:cNvSpPr txBox="1"/>
          <p:nvPr/>
        </p:nvSpPr>
        <p:spPr>
          <a:xfrm>
            <a:off x="762000" y="1651000"/>
            <a:ext cx="10668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32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UAT và tổng duyệt</a:t>
            </a:r>
            <a:endParaRPr lang="vi-VN"/>
          </a:p>
        </p:txBody>
      </p:sp>
      <p:sp>
        <p:nvSpPr>
          <p:cNvPr id="5" name="BulletAccent"/>
          <p:cNvSpPr txBox="1"/>
          <p:nvPr/>
        </p:nvSpPr>
        <p:spPr>
          <a:xfrm>
            <a:off x="787400" y="30607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6" name="Bullet"/>
          <p:cNvSpPr txBox="1"/>
          <p:nvPr/>
        </p:nvSpPr>
        <p:spPr>
          <a:xfrm>
            <a:off x="1092200" y="29591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Năm hành trình, bốn nhóm actor</a:t>
            </a:r>
            <a:endParaRPr lang="vi-VN"/>
          </a:p>
        </p:txBody>
      </p:sp>
      <p:sp>
        <p:nvSpPr>
          <p:cNvPr id="7" name="BulletAccent"/>
          <p:cNvSpPr txBox="1"/>
          <p:nvPr/>
        </p:nvSpPr>
        <p:spPr>
          <a:xfrm>
            <a:off x="787400" y="37211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8" name="Bullet"/>
          <p:cNvSpPr txBox="1"/>
          <p:nvPr/>
        </p:nvSpPr>
        <p:spPr>
          <a:xfrm>
            <a:off x="1092200" y="36195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Browser evidence riêng với test backend</a:t>
            </a:r>
            <a:endParaRPr lang="vi-VN"/>
          </a:p>
        </p:txBody>
      </p:sp>
      <p:sp>
        <p:nvSpPr>
          <p:cNvPr id="9" name="BulletAccent"/>
          <p:cNvSpPr txBox="1"/>
          <p:nvPr/>
        </p:nvSpPr>
        <p:spPr>
          <a:xfrm>
            <a:off x="787400" y="43815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10" name="Bullet"/>
          <p:cNvSpPr txBox="1"/>
          <p:nvPr/>
        </p:nvSpPr>
        <p:spPr>
          <a:xfrm>
            <a:off x="1092200" y="42799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Hai rehearsal người thật ngày 15/10</a:t>
            </a:r>
            <a:endParaRPr lang="vi-VN"/>
          </a:p>
        </p:txBody>
      </p:sp>
      <p:sp>
        <p:nvSpPr>
          <p:cNvPr id="11" name="BulletAccent"/>
          <p:cNvSpPr txBox="1"/>
          <p:nvPr/>
        </p:nvSpPr>
        <p:spPr>
          <a:xfrm>
            <a:off x="787400" y="50419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12" name="Bullet"/>
          <p:cNvSpPr txBox="1"/>
          <p:nvPr/>
        </p:nvSpPr>
        <p:spPr>
          <a:xfrm>
            <a:off x="1092200" y="49403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Pending nếu chưa có kết quả thực tế</a:t>
            </a:r>
            <a:endParaRPr lang="vi-VN"/>
          </a:p>
        </p:txBody>
      </p:sp>
      <p:sp>
        <p:nvSpPr>
          <p:cNvPr id="20" name="Footer"/>
          <p:cNvSpPr txBox="1"/>
          <p:nvPr/>
        </p:nvSpPr>
        <p:spPr>
          <a:xfrm>
            <a:off x="762000" y="6350000"/>
            <a:ext cx="9855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9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.NET  /  LẬP TRÌNH HIỆN ĐẠI  /  QUẢN LÝ DỰ ÁN</a:t>
            </a:r>
            <a:endParaRPr lang="vi-VN"/>
          </a:p>
        </p:txBody>
      </p:sp>
      <p:sp>
        <p:nvSpPr>
          <p:cNvPr id="21" name="SlideNumber"/>
          <p:cNvSpPr txBox="1"/>
          <p:nvPr/>
        </p:nvSpPr>
        <p:spPr>
          <a:xfrm>
            <a:off x="10617200" y="6337300"/>
            <a:ext cx="81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39D4C3"/>
                </a:solidFill>
                <a:latin typeface="Noto Sans"/>
                <a:ea typeface="Noto Sans"/>
                <a:cs typeface="Noto Sans"/>
              </a:rPr>
              <a:t>25 / 28</a:t>
            </a:r>
            <a:endParaRPr lang="vi-V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 txBox="1"/>
          <p:nvPr/>
        </p:nvSpPr>
        <p:spPr>
          <a:xfrm>
            <a:off x="762000" y="698500"/>
            <a:ext cx="533400" cy="635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3" name="Brand"/>
          <p:cNvSpPr txBox="1"/>
          <p:nvPr/>
        </p:nvSpPr>
        <p:spPr>
          <a:xfrm>
            <a:off x="762000" y="1016000"/>
            <a:ext cx="1054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ENGLISH LEARNING PLATFORM</a:t>
            </a:r>
            <a:endParaRPr lang="vi-VN"/>
          </a:p>
        </p:txBody>
      </p:sp>
      <p:sp>
        <p:nvSpPr>
          <p:cNvPr id="4" name="Title"/>
          <p:cNvSpPr txBox="1"/>
          <p:nvPr/>
        </p:nvSpPr>
        <p:spPr>
          <a:xfrm>
            <a:off x="762000" y="1651000"/>
            <a:ext cx="10668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32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Quản lý công việc 10–12</a:t>
            </a:r>
            <a:endParaRPr lang="vi-VN"/>
          </a:p>
        </p:txBody>
      </p:sp>
      <p:sp>
        <p:nvSpPr>
          <p:cNvPr id="5" name="BulletAccent"/>
          <p:cNvSpPr txBox="1"/>
          <p:nvPr/>
        </p:nvSpPr>
        <p:spPr>
          <a:xfrm>
            <a:off x="787400" y="30607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6" name="Bullet"/>
          <p:cNvSpPr txBox="1"/>
          <p:nvPr/>
        </p:nvSpPr>
        <p:spPr>
          <a:xfrm>
            <a:off x="1092200" y="29591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CV10: luồng và Completion · 10%</a:t>
            </a:r>
            <a:endParaRPr lang="vi-VN"/>
          </a:p>
        </p:txBody>
      </p:sp>
      <p:sp>
        <p:nvSpPr>
          <p:cNvPr id="7" name="BulletAccent"/>
          <p:cNvSpPr txBox="1"/>
          <p:nvPr/>
        </p:nvSpPr>
        <p:spPr>
          <a:xfrm>
            <a:off x="787400" y="37211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8" name="Bullet"/>
          <p:cNvSpPr txBox="1"/>
          <p:nvPr/>
        </p:nvSpPr>
        <p:spPr>
          <a:xfrm>
            <a:off x="1092200" y="36195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CV11: security và CI · 8%</a:t>
            </a:r>
            <a:endParaRPr lang="vi-VN"/>
          </a:p>
        </p:txBody>
      </p:sp>
      <p:sp>
        <p:nvSpPr>
          <p:cNvPr id="9" name="BulletAccent"/>
          <p:cNvSpPr txBox="1"/>
          <p:nvPr/>
        </p:nvSpPr>
        <p:spPr>
          <a:xfrm>
            <a:off x="787400" y="43815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10" name="Bullet"/>
          <p:cNvSpPr txBox="1"/>
          <p:nvPr/>
        </p:nvSpPr>
        <p:spPr>
          <a:xfrm>
            <a:off x="1092200" y="42799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CV12: RC, UAT và bàn giao · 8,9%</a:t>
            </a:r>
            <a:endParaRPr lang="vi-VN"/>
          </a:p>
        </p:txBody>
      </p:sp>
      <p:sp>
        <p:nvSpPr>
          <p:cNvPr id="11" name="BulletAccent"/>
          <p:cNvSpPr txBox="1"/>
          <p:nvPr/>
        </p:nvSpPr>
        <p:spPr>
          <a:xfrm>
            <a:off x="787400" y="50419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12" name="Bullet"/>
          <p:cNvSpPr txBox="1"/>
          <p:nvPr/>
        </p:nvSpPr>
        <p:spPr>
          <a:xfrm>
            <a:off x="1092200" y="49403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Trạng thái dựa trên AC và evidence</a:t>
            </a:r>
            <a:endParaRPr lang="vi-VN"/>
          </a:p>
        </p:txBody>
      </p:sp>
      <p:sp>
        <p:nvSpPr>
          <p:cNvPr id="20" name="Footer"/>
          <p:cNvSpPr txBox="1"/>
          <p:nvPr/>
        </p:nvSpPr>
        <p:spPr>
          <a:xfrm>
            <a:off x="762000" y="6350000"/>
            <a:ext cx="9855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9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.NET  /  LẬP TRÌNH HIỆN ĐẠI  /  QUẢN LÝ DỰ ÁN</a:t>
            </a:r>
            <a:endParaRPr lang="vi-VN"/>
          </a:p>
        </p:txBody>
      </p:sp>
      <p:sp>
        <p:nvSpPr>
          <p:cNvPr id="21" name="SlideNumber"/>
          <p:cNvSpPr txBox="1"/>
          <p:nvPr/>
        </p:nvSpPr>
        <p:spPr>
          <a:xfrm>
            <a:off x="10617200" y="6337300"/>
            <a:ext cx="81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39D4C3"/>
                </a:solidFill>
                <a:latin typeface="Noto Sans"/>
                <a:ea typeface="Noto Sans"/>
                <a:cs typeface="Noto Sans"/>
              </a:rPr>
              <a:t>26 / 28</a:t>
            </a:r>
            <a:endParaRPr lang="vi-VN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 txBox="1"/>
          <p:nvPr/>
        </p:nvSpPr>
        <p:spPr>
          <a:xfrm>
            <a:off x="762000" y="698500"/>
            <a:ext cx="533400" cy="635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3" name="Brand"/>
          <p:cNvSpPr txBox="1"/>
          <p:nvPr/>
        </p:nvSpPr>
        <p:spPr>
          <a:xfrm>
            <a:off x="762000" y="1016000"/>
            <a:ext cx="1054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ENGLISH LEARNING PLATFORM</a:t>
            </a:r>
            <a:endParaRPr lang="vi-VN"/>
          </a:p>
        </p:txBody>
      </p:sp>
      <p:sp>
        <p:nvSpPr>
          <p:cNvPr id="4" name="Title"/>
          <p:cNvSpPr txBox="1"/>
          <p:nvPr/>
        </p:nvSpPr>
        <p:spPr>
          <a:xfrm>
            <a:off x="762000" y="1651000"/>
            <a:ext cx="10668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32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Bàn giao và bài học</a:t>
            </a:r>
            <a:endParaRPr lang="vi-VN"/>
          </a:p>
        </p:txBody>
      </p:sp>
      <p:sp>
        <p:nvSpPr>
          <p:cNvPr id="5" name="BulletAccent"/>
          <p:cNvSpPr txBox="1"/>
          <p:nvPr/>
        </p:nvSpPr>
        <p:spPr>
          <a:xfrm>
            <a:off x="787400" y="30607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6" name="Bullet"/>
          <p:cNvSpPr txBox="1"/>
          <p:nvPr/>
        </p:nvSpPr>
        <p:spPr>
          <a:xfrm>
            <a:off x="1092200" y="29591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SP11 manual · SP13 vận hành</a:t>
            </a:r>
            <a:endParaRPr lang="vi-VN"/>
          </a:p>
        </p:txBody>
      </p:sp>
      <p:sp>
        <p:nvSpPr>
          <p:cNvPr id="7" name="BulletAccent"/>
          <p:cNvSpPr txBox="1"/>
          <p:nvPr/>
        </p:nvSpPr>
        <p:spPr>
          <a:xfrm>
            <a:off x="787400" y="37211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8" name="Bullet"/>
          <p:cNvSpPr txBox="1"/>
          <p:nvPr/>
        </p:nvSpPr>
        <p:spPr>
          <a:xfrm>
            <a:off x="1092200" y="36195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SP14 nghiệm thu · SP15 yêu cầu/thiết kế</a:t>
            </a:r>
            <a:endParaRPr lang="vi-VN"/>
          </a:p>
        </p:txBody>
      </p:sp>
      <p:sp>
        <p:nvSpPr>
          <p:cNvPr id="9" name="BulletAccent"/>
          <p:cNvSpPr txBox="1"/>
          <p:nvPr/>
        </p:nvSpPr>
        <p:spPr>
          <a:xfrm>
            <a:off x="787400" y="43815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10" name="Bullet"/>
          <p:cNvSpPr txBox="1"/>
          <p:nvPr/>
        </p:nvSpPr>
        <p:spPr>
          <a:xfrm>
            <a:off x="1092200" y="42799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Báo cáo ba môn, deck và manifest</a:t>
            </a:r>
            <a:endParaRPr lang="vi-VN"/>
          </a:p>
        </p:txBody>
      </p:sp>
      <p:sp>
        <p:nvSpPr>
          <p:cNvPr id="11" name="BulletAccent"/>
          <p:cNvSpPr txBox="1"/>
          <p:nvPr/>
        </p:nvSpPr>
        <p:spPr>
          <a:xfrm>
            <a:off x="787400" y="50419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12" name="Bullet"/>
          <p:cNvSpPr txBox="1"/>
          <p:nvPr/>
        </p:nvSpPr>
        <p:spPr>
          <a:xfrm>
            <a:off x="1092200" y="49403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Contract, lịch sử và SHA cần rõ từ đầu</a:t>
            </a:r>
            <a:endParaRPr lang="vi-VN"/>
          </a:p>
        </p:txBody>
      </p:sp>
      <p:sp>
        <p:nvSpPr>
          <p:cNvPr id="20" name="Footer"/>
          <p:cNvSpPr txBox="1"/>
          <p:nvPr/>
        </p:nvSpPr>
        <p:spPr>
          <a:xfrm>
            <a:off x="762000" y="6350000"/>
            <a:ext cx="9855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9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.NET  /  LẬP TRÌNH HIỆN ĐẠI  /  QUẢN LÝ DỰ ÁN</a:t>
            </a:r>
            <a:endParaRPr lang="vi-VN"/>
          </a:p>
        </p:txBody>
      </p:sp>
      <p:sp>
        <p:nvSpPr>
          <p:cNvPr id="21" name="SlideNumber"/>
          <p:cNvSpPr txBox="1"/>
          <p:nvPr/>
        </p:nvSpPr>
        <p:spPr>
          <a:xfrm>
            <a:off x="10617200" y="6337300"/>
            <a:ext cx="81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39D4C3"/>
                </a:solidFill>
                <a:latin typeface="Noto Sans"/>
                <a:ea typeface="Noto Sans"/>
                <a:cs typeface="Noto Sans"/>
              </a:rPr>
              <a:t>27 / 28</a:t>
            </a:r>
            <a:endParaRPr lang="vi-VN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 txBox="1"/>
          <p:nvPr/>
        </p:nvSpPr>
        <p:spPr>
          <a:xfrm>
            <a:off x="762000" y="698500"/>
            <a:ext cx="533400" cy="635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3" name="Brand"/>
          <p:cNvSpPr txBox="1"/>
          <p:nvPr/>
        </p:nvSpPr>
        <p:spPr>
          <a:xfrm>
            <a:off x="762000" y="1016000"/>
            <a:ext cx="1054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ENGLISH LEARNING PLATFORM</a:t>
            </a:r>
            <a:endParaRPr lang="vi-VN"/>
          </a:p>
        </p:txBody>
      </p:sp>
      <p:sp>
        <p:nvSpPr>
          <p:cNvPr id="4" name="Title"/>
          <p:cNvSpPr txBox="1"/>
          <p:nvPr/>
        </p:nvSpPr>
        <p:spPr>
          <a:xfrm>
            <a:off x="762000" y="1651000"/>
            <a:ext cx="10668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32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Giới hạn và phát triển tiếp</a:t>
            </a:r>
            <a:endParaRPr lang="vi-VN"/>
          </a:p>
        </p:txBody>
      </p:sp>
      <p:sp>
        <p:nvSpPr>
          <p:cNvPr id="5" name="BulletAccent"/>
          <p:cNvSpPr txBox="1"/>
          <p:nvPr/>
        </p:nvSpPr>
        <p:spPr>
          <a:xfrm>
            <a:off x="787400" y="30607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6" name="Bullet"/>
          <p:cNvSpPr txBox="1"/>
          <p:nvPr/>
        </p:nvSpPr>
        <p:spPr>
          <a:xfrm>
            <a:off x="1092200" y="29591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Provider thật và production deploy chưa nghiệm thu</a:t>
            </a:r>
            <a:endParaRPr lang="vi-VN"/>
          </a:p>
        </p:txBody>
      </p:sp>
      <p:sp>
        <p:nvSpPr>
          <p:cNvPr id="7" name="BulletAccent"/>
          <p:cNvSpPr txBox="1"/>
          <p:nvPr/>
        </p:nvSpPr>
        <p:spPr>
          <a:xfrm>
            <a:off x="787400" y="37211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8" name="Bullet"/>
          <p:cNvSpPr txBox="1"/>
          <p:nvPr/>
        </p:nvSpPr>
        <p:spPr>
          <a:xfrm>
            <a:off x="1092200" y="36195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Teacher Assessment authoring/versioning cần scope riêng</a:t>
            </a:r>
            <a:endParaRPr lang="vi-VN"/>
          </a:p>
        </p:txBody>
      </p:sp>
      <p:sp>
        <p:nvSpPr>
          <p:cNvPr id="9" name="BulletAccent"/>
          <p:cNvSpPr txBox="1"/>
          <p:nvPr/>
        </p:nvSpPr>
        <p:spPr>
          <a:xfrm>
            <a:off x="787400" y="43815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10" name="Bullet"/>
          <p:cNvSpPr txBox="1"/>
          <p:nvPr/>
        </p:nvSpPr>
        <p:spPr>
          <a:xfrm>
            <a:off x="1092200" y="42799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Mở rộng Practice, recommendation và load tests</a:t>
            </a:r>
            <a:endParaRPr lang="vi-VN"/>
          </a:p>
        </p:txBody>
      </p:sp>
      <p:sp>
        <p:nvSpPr>
          <p:cNvPr id="11" name="BulletAccent"/>
          <p:cNvSpPr txBox="1"/>
          <p:nvPr/>
        </p:nvSpPr>
        <p:spPr>
          <a:xfrm>
            <a:off x="787400" y="5041900"/>
            <a:ext cx="76200" cy="76200"/>
          </a:xfrm>
          <a:prstGeom prst="rect">
            <a:avLst/>
          </a:prstGeom>
          <a:solidFill>
            <a:srgbClr val="39D4C3"/>
          </a:solidFill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/>
            </a:r>
            <a:endParaRPr lang="vi-VN"/>
          </a:p>
        </p:txBody>
      </p:sp>
      <p:sp>
        <p:nvSpPr>
          <p:cNvPr id="12" name="Bullet"/>
          <p:cNvSpPr txBox="1"/>
          <p:nvPr/>
        </p:nvSpPr>
        <p:spPr>
          <a:xfrm>
            <a:off x="1092200" y="49403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2050" b="0">
                <a:solidFill>
                  <a:srgbClr val="D9E3EB"/>
                </a:solidFill>
                <a:latin typeface="Noto Sans"/>
                <a:ea typeface="Noto Sans"/>
                <a:cs typeface="Noto Sans"/>
              </a:rPr>
              <a:t>Trao đổi và vấn đáp</a:t>
            </a:r>
            <a:endParaRPr lang="vi-VN"/>
          </a:p>
        </p:txBody>
      </p:sp>
      <p:sp>
        <p:nvSpPr>
          <p:cNvPr id="20" name="Footer"/>
          <p:cNvSpPr txBox="1"/>
          <p:nvPr/>
        </p:nvSpPr>
        <p:spPr>
          <a:xfrm>
            <a:off x="762000" y="6350000"/>
            <a:ext cx="9855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900" b="0">
                <a:solidFill>
                  <a:srgbClr val="829FAF"/>
                </a:solidFill>
                <a:latin typeface="Noto Sans"/>
                <a:ea typeface="Noto Sans"/>
                <a:cs typeface="Noto Sans"/>
              </a:rPr>
              <a:t>.NET  /  LẬP TRÌNH HIỆN ĐẠI  /  QUẢN LÝ DỰ ÁN</a:t>
            </a:r>
            <a:endParaRPr lang="vi-VN"/>
          </a:p>
        </p:txBody>
      </p:sp>
      <p:sp>
        <p:nvSpPr>
          <p:cNvPr id="21" name="SlideNumber"/>
          <p:cNvSpPr txBox="1"/>
          <p:nvPr/>
        </p:nvSpPr>
        <p:spPr>
          <a:xfrm>
            <a:off x="10617200" y="6337300"/>
            <a:ext cx="81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vi-VN" sz="1000" b="0">
                <a:solidFill>
                  <a:srgbClr val="39D4C3"/>
                </a:solidFill>
                <a:latin typeface="Noto Sans"/>
                <a:ea typeface="Noto Sans"/>
                <a:cs typeface="Noto Sans"/>
              </a:rPr>
              <a:t>28 / 28</a:t>
            </a:r>
            <a:endParaRPr lang="vi-V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nglish Learning">
  <a:themeElements>
    <a:clrScheme name="Learning">
      <a:dk1>
        <a:srgbClr val="0B1621"/>
      </a:dk1>
      <a:lt1>
        <a:srgbClr val="FFFFFF"/>
      </a:lt1>
      <a:dk2>
        <a:srgbClr val="20313F"/>
      </a:dk2>
      <a:lt2>
        <a:srgbClr val="E8F3F2"/>
      </a:lt2>
      <a:accent1>
        <a:srgbClr val="39D4C3"/>
      </a:accent1>
      <a:accent2>
        <a:srgbClr val="087E83"/>
      </a:accent2>
      <a:accent3>
        <a:srgbClr val="A6C3D3"/>
      </a:accent3>
      <a:accent4>
        <a:srgbClr val="F6BE52"/>
      </a:accent4>
      <a:accent5>
        <a:srgbClr val="C9A6EB"/>
      </a:accent5>
      <a:accent6>
        <a:srgbClr val="ED978F"/>
      </a:accent6>
      <a:hlink>
        <a:srgbClr val="39D4C3"/>
      </a:hlink>
      <a:folHlink>
        <a:srgbClr val="A6C3D3"/>
      </a:folHlink>
    </a:clrScheme>
    <a:fontScheme name="Noto">
      <a:majorFont>
        <a:latin typeface="Noto Sans"/>
        <a:ea typeface="Noto Sans"/>
        <a:cs typeface="Noto Sans"/>
      </a:majorFont>
      <a:minorFont>
        <a:latin typeface="Noto Sans"/>
        <a:ea typeface="Noto Sans"/>
        <a:cs typeface="Noto Sans"/>
      </a:minorFont>
    </a:fontScheme>
    <a:fmtScheme name="Minim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